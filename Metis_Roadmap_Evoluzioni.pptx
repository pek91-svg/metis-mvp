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518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00D4FF"/>
                </a:solidFill>
                <a:latin typeface="Calibri"/>
              </a:rPr>
              <a:t>METIS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0"/>
                </a:solidFill>
                <a:latin typeface="Calibri"/>
              </a:rPr>
              <a:t>ACE — Analisi Complementare Evoluta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651760"/>
            <a:ext cx="18288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8346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Roadmap Evolutiva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290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0"/>
                </a:solidFill>
                <a:latin typeface="Calibri"/>
              </a:rPr>
              <a:t>8 Evoluzioni Future del Prodotto
dal documento Finomnia AI in PEF V05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217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B8D"/>
                </a:solidFill>
                <a:latin typeface="Calibri"/>
              </a:rPr>
              <a:t>Marzo 2026  |  Confidenziale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280160"/>
            <a:ext cx="3383280" cy="868680"/>
          </a:xfrm>
          <a:prstGeom prst="rect">
            <a:avLst/>
          </a:prstGeom>
          <a:solidFill>
            <a:srgbClr val="1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280160"/>
            <a:ext cx="64008" cy="8686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33502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E1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68249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0"/>
                </a:solidFill>
                <a:latin typeface="Calibri"/>
              </a:rPr>
              <a:t>Simulatore Prodotto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2468880"/>
            <a:ext cx="3383280" cy="868680"/>
          </a:xfrm>
          <a:prstGeom prst="rect">
            <a:avLst/>
          </a:prstGeom>
          <a:solidFill>
            <a:srgbClr val="1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80560" y="2468880"/>
            <a:ext cx="64008" cy="868680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720" y="252374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05CFF"/>
                </a:solidFill>
                <a:latin typeface="Calibri"/>
              </a:rPr>
              <a:t>E2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87121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0"/>
                </a:solidFill>
                <a:latin typeface="Calibri"/>
              </a:rPr>
              <a:t>Cluster Pagamento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3657600"/>
            <a:ext cx="3383280" cy="868680"/>
          </a:xfrm>
          <a:prstGeom prst="rect">
            <a:avLst/>
          </a:prstGeom>
          <a:solidFill>
            <a:srgbClr val="1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3657600"/>
            <a:ext cx="64008" cy="8686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37124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C000"/>
                </a:solidFill>
                <a:latin typeface="Calibri"/>
              </a:rPr>
              <a:t>E3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05993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0"/>
                </a:solidFill>
                <a:latin typeface="Calibri"/>
              </a:rPr>
              <a:t>Teoria dei Giochi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846320"/>
            <a:ext cx="3383280" cy="868680"/>
          </a:xfrm>
          <a:prstGeom prst="rect">
            <a:avLst/>
          </a:prstGeom>
          <a:solidFill>
            <a:srgbClr val="1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846320"/>
            <a:ext cx="64008" cy="868680"/>
          </a:xfrm>
          <a:prstGeom prst="rect">
            <a:avLst/>
          </a:prstGeom>
          <a:solidFill>
            <a:srgbClr val="4C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490118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E08A"/>
                </a:solidFill>
                <a:latin typeface="Calibri"/>
              </a:rPr>
              <a:t>E4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524865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0"/>
                </a:solidFill>
                <a:latin typeface="Calibri"/>
              </a:rPr>
              <a:t>Early Warning AI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280160"/>
            <a:ext cx="3383280" cy="868680"/>
          </a:xfrm>
          <a:prstGeom prst="rect">
            <a:avLst/>
          </a:prstGeom>
          <a:solidFill>
            <a:srgbClr val="1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1280160"/>
            <a:ext cx="64008" cy="86868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133502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7A00"/>
                </a:solidFill>
                <a:latin typeface="Calibri"/>
              </a:rPr>
              <a:t>E5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168249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0"/>
                </a:solidFill>
                <a:latin typeface="Calibri"/>
              </a:rPr>
              <a:t>Rischio 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2468880"/>
            <a:ext cx="3383280" cy="868680"/>
          </a:xfrm>
          <a:prstGeom prst="rect">
            <a:avLst/>
          </a:prstGeom>
          <a:solidFill>
            <a:srgbClr val="1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29600" y="2468880"/>
            <a:ext cx="64008" cy="8686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252374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FF"/>
                </a:solidFill>
                <a:latin typeface="Calibri"/>
              </a:rPr>
              <a:t>E6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87121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0"/>
                </a:solidFill>
                <a:latin typeface="Calibri"/>
              </a:rPr>
              <a:t>Cluster Clientela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3657600"/>
            <a:ext cx="3383280" cy="868680"/>
          </a:xfrm>
          <a:prstGeom prst="rect">
            <a:avLst/>
          </a:prstGeom>
          <a:solidFill>
            <a:srgbClr val="1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9600" y="3657600"/>
            <a:ext cx="64008" cy="868680"/>
          </a:xfrm>
          <a:prstGeom prst="rect">
            <a:avLst/>
          </a:prstGeom>
          <a:solidFill>
            <a:srgbClr val="4C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60" y="371246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CE08A"/>
                </a:solidFill>
                <a:latin typeface="Calibri"/>
              </a:rPr>
              <a:t>E7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405993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0"/>
                </a:solidFill>
                <a:latin typeface="Calibri"/>
              </a:rPr>
              <a:t>OCR Allegati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4846320"/>
            <a:ext cx="3383280" cy="868680"/>
          </a:xfrm>
          <a:prstGeom prst="rect">
            <a:avLst/>
          </a:prstGeom>
          <a:solidFill>
            <a:srgbClr val="10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4846320"/>
            <a:ext cx="64008" cy="868680"/>
          </a:xfrm>
          <a:prstGeom prst="rect">
            <a:avLst/>
          </a:prstGeom>
          <a:solidFill>
            <a:srgbClr val="FF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4901184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5080"/>
                </a:solidFill>
                <a:latin typeface="Calibri"/>
              </a:rPr>
              <a:t>E8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524865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E0"/>
                </a:solidFill>
                <a:latin typeface="Calibri"/>
              </a:rPr>
              <a:t>Verifica Policy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Le 8 Evoluzioni Future di Metis 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274320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5577840" cy="1143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4864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11155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E1 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Simulatore Prodotto Finanziario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167335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0"/>
                </a:solidFill>
                <a:latin typeface="Calibri"/>
              </a:rPr>
              <a:t>Identifica il prodotto creditizio statisticamente più profittevole per il cliente (P-endo, P-uto, garanzie, notifiche)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051560"/>
            <a:ext cx="5577840" cy="1143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51560"/>
            <a:ext cx="54864" cy="1143000"/>
          </a:xfrm>
          <a:prstGeom prst="rect">
            <a:avLst/>
          </a:prstGeom>
          <a:solidFill>
            <a:srgbClr val="A0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111556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5CFF"/>
                </a:solidFill>
                <a:latin typeface="Calibri"/>
              </a:rPr>
              <a:t>E2 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13716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Indicatori di Pagamento per Cluster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167335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0"/>
                </a:solidFill>
                <a:latin typeface="Calibri"/>
              </a:rPr>
              <a:t>Verifica se il comportamento di pagamento del debitore è in linea con il cluster di appartenenza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331720"/>
            <a:ext cx="5577840" cy="1143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331720"/>
            <a:ext cx="54864" cy="1143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" y="23957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000"/>
                </a:solidFill>
                <a:latin typeface="Calibri"/>
              </a:rPr>
              <a:t>E3 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2651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Teoria dei Giochi in PEF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" y="295351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0"/>
                </a:solidFill>
                <a:latin typeface="Calibri"/>
              </a:rPr>
              <a:t>Strumenti decisionali sofisticati basati su teoria dei giochi per la negoziazione delle condizioni creditizie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331720"/>
            <a:ext cx="5577840" cy="1143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331720"/>
            <a:ext cx="54864" cy="1143000"/>
          </a:xfrm>
          <a:prstGeom prst="rect">
            <a:avLst/>
          </a:prstGeom>
          <a:solidFill>
            <a:srgbClr val="4C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91656" y="239572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E08A"/>
                </a:solidFill>
                <a:latin typeface="Calibri"/>
              </a:rPr>
              <a:t>E4 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2651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Monitoraggio Predittivo (Early Warning)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295351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0"/>
                </a:solidFill>
                <a:latin typeface="Calibri"/>
              </a:rPr>
              <a:t>AI predittiva per l'identificazione precoce di deterioramenti su portafoglio clienti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611879"/>
            <a:ext cx="5577840" cy="1143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3611879"/>
            <a:ext cx="54864" cy="1143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" y="3675887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A00"/>
                </a:solidFill>
                <a:latin typeface="Calibri"/>
              </a:rPr>
              <a:t>E5 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393191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Indicatori Rischio 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" y="4233671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0"/>
                </a:solidFill>
                <a:latin typeface="Calibri"/>
              </a:rPr>
              <a:t>Valutazione dell'Atipicità e Rilevanza delle operazioni per il controllo del rischio di comportamenti anomali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611879"/>
            <a:ext cx="5577840" cy="1143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63640" y="3611879"/>
            <a:ext cx="54864" cy="1143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91656" y="3675887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Calibri"/>
              </a:rPr>
              <a:t>E6 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1656" y="393191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Cluster Omogenei Clientela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91656" y="4233671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0"/>
                </a:solidFill>
                <a:latin typeface="Calibri"/>
              </a:rPr>
              <a:t>Segmentazione dei clienti in cluster omogenei per individuare comportamenti anomali rispetto al gruppo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892040"/>
            <a:ext cx="5577840" cy="1143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4892040"/>
            <a:ext cx="54864" cy="1143000"/>
          </a:xfrm>
          <a:prstGeom prst="rect">
            <a:avLst/>
          </a:prstGeom>
          <a:solidFill>
            <a:srgbClr val="4C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" y="49560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E08A"/>
                </a:solidFill>
                <a:latin typeface="Calibri"/>
              </a:rPr>
              <a:t>E7 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" y="52120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Lettura Allegati Documentali (OCR+AI)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" y="551383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0"/>
                </a:solidFill>
                <a:latin typeface="Calibri"/>
              </a:rPr>
              <a:t>AI che legge, estrae e sintetizza automaticamente i contenuti degli allegati alla pratica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4892040"/>
            <a:ext cx="5577840" cy="1143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63640" y="4892040"/>
            <a:ext cx="54864" cy="1143000"/>
          </a:xfrm>
          <a:prstGeom prst="rect">
            <a:avLst/>
          </a:prstGeom>
          <a:solidFill>
            <a:srgbClr val="FF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91656" y="49560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5080"/>
                </a:solidFill>
                <a:latin typeface="Calibri"/>
              </a:rPr>
              <a:t>E8 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91656" y="52120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Verifica Aderenza Policy Creditizie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91656" y="551383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8E0"/>
                </a:solidFill>
                <a:latin typeface="Calibri"/>
              </a:rPr>
              <a:t>Analisi automatica della pratica rispetto alle policy creditizie interne della banca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C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5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82880"/>
            <a:ext cx="594360" cy="411480"/>
          </a:xfrm>
          <a:prstGeom prst="rect">
            <a:avLst/>
          </a:prstGeom>
          <a:solidFill>
            <a:srgbClr val="4C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90E1C"/>
                </a:solidFill>
                <a:latin typeface="Calibri"/>
              </a:rPr>
              <a:t>E1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E08A"/>
                </a:solidFill>
                <a:latin typeface="Calibri"/>
              </a:rPr>
              <a:t>🔴 PRIORITÀ ALTA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8580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Simulatore Prodotto Finanziario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2286000" cy="32004"/>
          </a:xfrm>
          <a:prstGeom prst="rect">
            <a:avLst/>
          </a:prstGeom>
          <a:solidFill>
            <a:srgbClr val="4C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E08A"/>
                </a:solidFill>
                <a:latin typeface="Calibri"/>
              </a:rPr>
              <a:t>COS'È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874519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0"/>
                </a:solidFill>
                <a:latin typeface="Calibri"/>
              </a:rPr>
              <a:t>Un motore di raccomandazione AI che, analizzato il profilo creditizio del cliente, suggerisce il prodotto finanziario statisticamente più adatto e profittevole.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834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E08A"/>
                </a:solidFill>
                <a:latin typeface="Calibri"/>
              </a:rPr>
              <a:t>COME FUNZIONA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10896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①  Analizza profilo cliente: settore, dimensione, storico CR, DSCR, esposizioni in essere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73075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②  Confronta prodotti disponibili: linea P-endo vs P-uto, con/senza garanzie, con/senza notifica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352544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③  Calcola profittabilità attesa e probabilità di rimborso per ogni opzione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974336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④  Genera raccomandazione ranked con spiegazione XAI per l'analista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989320"/>
            <a:ext cx="4572000" cy="640080"/>
          </a:xfrm>
          <a:prstGeom prst="rect">
            <a:avLst/>
          </a:prstGeom>
          <a:solidFill>
            <a:srgbClr val="0A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035040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FC000"/>
                </a:solidFill>
                <a:latin typeface="Calibri"/>
              </a:rPr>
              <a:t>💡 Trasforma Metis da strumento di analisi a strumento di raccomandazione commerciale — aumenta revenue per pratica.</a:t>
            </a:r>
          </a:p>
        </p:txBody>
      </p:sp>
      <p:pic>
        <p:nvPicPr>
          <p:cNvPr id="18" name="Picture 17" descr="e1_simulatore_prodotto_17745332752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502920"/>
            <a:ext cx="6675120" cy="612648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C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5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82880"/>
            <a:ext cx="594360" cy="4114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90E1C"/>
                </a:solidFill>
                <a:latin typeface="Calibri"/>
              </a:rPr>
              <a:t>E2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000"/>
                </a:solidFill>
                <a:latin typeface="Calibri"/>
              </a:rPr>
              <a:t>🟡 PRIORITÀ 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8580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Indicatori di Pagamento per Cluster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2286000" cy="3200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000"/>
                </a:solidFill>
                <a:latin typeface="Calibri"/>
              </a:rPr>
              <a:t>COS'È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874519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0"/>
                </a:solidFill>
                <a:latin typeface="Calibri"/>
              </a:rPr>
              <a:t>Sistema di benchmarking comportamentale che valuta se il pattern di pagamento del cliente è in linea con il cluster omogeneo di appartenenza.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834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000"/>
                </a:solidFill>
                <a:latin typeface="Calibri"/>
              </a:rPr>
              <a:t>COME FUNZIONA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10896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①  Segmenta il portafoglio clienti in cluster per settore, dimensione e storico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73075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②  Per ogni cluster calcola i KPI di comportamento di pagamento (DSO, puntualità, utilizzo)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352544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③  Confronta il singolo cliente con la distribuzione del cluster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974336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④  Genera indicatore di deviazione con severità (IN LINEA / ATTENZIONE / ANOMALO)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989320"/>
            <a:ext cx="4572000" cy="640080"/>
          </a:xfrm>
          <a:prstGeom prst="rect">
            <a:avLst/>
          </a:prstGeom>
          <a:solidFill>
            <a:srgbClr val="0A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035040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FC000"/>
                </a:solidFill>
                <a:latin typeface="Calibri"/>
              </a:rPr>
              <a:t>💡 Early detection di deterioramento nascosto — il cliente appare sano ma devia dal suo cluster prima che il rating scenda.</a:t>
            </a:r>
          </a:p>
        </p:txBody>
      </p:sp>
      <p:pic>
        <p:nvPicPr>
          <p:cNvPr id="18" name="Picture 17" descr="e2_cluster_pagamento_17745332965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502920"/>
            <a:ext cx="6675120" cy="612648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5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82880"/>
            <a:ext cx="594360" cy="411480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90E1C"/>
                </a:solidFill>
                <a:latin typeface="Calibri"/>
              </a:rPr>
              <a:t>E3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B8D"/>
                </a:solidFill>
                <a:latin typeface="Calibri"/>
              </a:rPr>
              <a:t>⚪ PRIORITÀ BASSA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8580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Teoria dei Giochi in PEF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2286000" cy="32004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B8D"/>
                </a:solidFill>
                <a:latin typeface="Calibri"/>
              </a:rPr>
              <a:t>COS'È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874519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0"/>
                </a:solidFill>
                <a:latin typeface="Calibri"/>
              </a:rPr>
              <a:t>Applicazione della game theory al processo negoziale del credito per ottimizzare le condizioni offerte dalla banca in funzione delle possibili contromosses del cliente.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834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B8D"/>
                </a:solidFill>
                <a:latin typeface="Calibri"/>
              </a:rPr>
              <a:t>COME FUNZIONA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10896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①  Modella la negoziazione come gioco a 2 giocatori (Banca vs Cliente) con payoff definiti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73075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②  Calcola le strategie dominanti e l'equilibrio di Nash in base al profilo del cliente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352544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③  Suggerisce la struttura ottimale dell'offerta (tasso, garanzie, durata, covenants)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974336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④  Simula scenari controfattuali: 'cosa succede se il cliente rinegozia?'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989320"/>
            <a:ext cx="4572000" cy="640080"/>
          </a:xfrm>
          <a:prstGeom prst="rect">
            <a:avLst/>
          </a:prstGeom>
          <a:solidFill>
            <a:srgbClr val="0A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035040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FC000"/>
                </a:solidFill>
                <a:latin typeface="Calibri"/>
              </a:rPr>
              <a:t>💡 Strumento avanzato per analisti senior su pratiche complesse &gt;1M€. Differenziatore unico sul mercato bancario italiano.</a:t>
            </a:r>
          </a:p>
        </p:txBody>
      </p:sp>
      <p:pic>
        <p:nvPicPr>
          <p:cNvPr id="18" name="Picture 17" descr="e3_teoria_giochi_17745333630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502920"/>
            <a:ext cx="6675120" cy="612648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C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5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82880"/>
            <a:ext cx="594360" cy="411480"/>
          </a:xfrm>
          <a:prstGeom prst="rect">
            <a:avLst/>
          </a:prstGeom>
          <a:solidFill>
            <a:srgbClr val="4C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90E1C"/>
                </a:solidFill>
                <a:latin typeface="Calibri"/>
              </a:rPr>
              <a:t>E4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E08A"/>
                </a:solidFill>
                <a:latin typeface="Calibri"/>
              </a:rPr>
              <a:t>🔴 PRIORITÀ ALTA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8580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Monitoraggio Predittivo — Early Warning AI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2286000" cy="32004"/>
          </a:xfrm>
          <a:prstGeom prst="rect">
            <a:avLst/>
          </a:prstGeom>
          <a:solidFill>
            <a:srgbClr val="4C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E08A"/>
                </a:solidFill>
                <a:latin typeface="Calibri"/>
              </a:rPr>
              <a:t>COS'È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874519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0"/>
                </a:solidFill>
                <a:latin typeface="Calibri"/>
              </a:rPr>
              <a:t>Sistema di AI predittiva che monitora in continuo il portafoglio crediti e identifica precocemente i clienti a rischio di deterioramento nei prossimi 30–90 giorni.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834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E08A"/>
                </a:solidFill>
                <a:latin typeface="Calibri"/>
              </a:rPr>
              <a:t>COME FUNZIONA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10896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①  Feed continuo di dati: CR mensile, utilizzo linee, pagamenti, news web (M2)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73075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②  Modello ML (XGBoost + LSTM) addestrato su default storici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352544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③  Score di probabilità di default a 30/60/90 giorni con SHAP explanation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974336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④  Alert automatici all'analista responsabile con dashboard aggregata portfolio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989320"/>
            <a:ext cx="4572000" cy="640080"/>
          </a:xfrm>
          <a:prstGeom prst="rect">
            <a:avLst/>
          </a:prstGeom>
          <a:solidFill>
            <a:srgbClr val="0A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035040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FC000"/>
                </a:solidFill>
                <a:latin typeface="Calibri"/>
              </a:rPr>
              <a:t>💡 Anticipa le crisi di 60–90 giorni rispetto al rilevamento tradizionale. Riduce le perdite su crediti (LGD). Massimo ritorno sull'investimento.</a:t>
            </a:r>
          </a:p>
        </p:txBody>
      </p:sp>
      <p:pic>
        <p:nvPicPr>
          <p:cNvPr id="18" name="Picture 17" descr="e4_early_warning_17745333155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502920"/>
            <a:ext cx="6675120" cy="612648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C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5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82880"/>
            <a:ext cx="594360" cy="411480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90E1C"/>
                </a:solidFill>
                <a:latin typeface="Calibri"/>
              </a:rPr>
              <a:t>E5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7B8D"/>
                </a:solidFill>
                <a:latin typeface="Calibri"/>
              </a:rPr>
              <a:t>⚪ PRIORITÀ BASSA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8580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Indicatori di Rischio AR (Atipicità/Rilevanza)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2286000" cy="32004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B8D"/>
                </a:solidFill>
                <a:latin typeface="Calibri"/>
              </a:rPr>
              <a:t>COS'È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874519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0"/>
                </a:solidFill>
                <a:latin typeface="Calibri"/>
              </a:rPr>
              <a:t>Modulo per la valutazione del rischio di comportamenti atipici e operazioni di rilevanza anomala, a supporto dei processi antiriciclaggio e di credit risk monitoring.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834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B8D"/>
                </a:solidFill>
                <a:latin typeface="Calibri"/>
              </a:rPr>
              <a:t>COME FUNZIONA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10896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①  Analizza pattern transazionali: frequenza, importi, controparti, orari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73075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②  Calcola indice di Atipicità (deviazione dalla norma comportamentale del cluster)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352544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③  Calcola indice di Rilevanza (impatto dell'operazione sul profilo di rischio)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974336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④  Genera segnalazione strutturata per il compliance officer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989320"/>
            <a:ext cx="4572000" cy="640080"/>
          </a:xfrm>
          <a:prstGeom prst="rect">
            <a:avLst/>
          </a:prstGeom>
          <a:solidFill>
            <a:srgbClr val="0A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035040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FC000"/>
                </a:solidFill>
                <a:latin typeface="Calibri"/>
              </a:rPr>
              <a:t>💡 Supporto al processo AML (Anti Money Laundering) integrato nel flusso di underwriting. Riduce il rischio operativo e reputazionale.</a:t>
            </a:r>
          </a:p>
        </p:txBody>
      </p:sp>
      <p:pic>
        <p:nvPicPr>
          <p:cNvPr id="18" name="Picture 17" descr="e5_rischio_ar_17745333827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502920"/>
            <a:ext cx="6675120" cy="612648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5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82880"/>
            <a:ext cx="594360" cy="4114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90E1C"/>
                </a:solidFill>
                <a:latin typeface="Calibri"/>
              </a:rPr>
              <a:t>E6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000"/>
                </a:solidFill>
                <a:latin typeface="Calibri"/>
              </a:rPr>
              <a:t>🟡 PRIORITÀ 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8580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Cluster Omogenei per Early Warning Comportamentale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2286000" cy="3200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000"/>
                </a:solidFill>
                <a:latin typeface="Calibri"/>
              </a:rPr>
              <a:t>COS'È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874519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0"/>
                </a:solidFill>
                <a:latin typeface="Calibri"/>
              </a:rPr>
              <a:t>Segmentazione non supervisionata del portafoglio clienti in cluster omogenei per caratteristiche economiche e comportamentali, con monitoraggio delle deviazioni.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834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000"/>
                </a:solidFill>
                <a:latin typeface="Calibri"/>
              </a:rPr>
              <a:t>COME FUNZIONA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10896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①  Algoritmo di clustering (K-Means / DBSCAN) su KPI di bilancio + CR + settore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73075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②  Aggiornamento mensile dei cluster all'arrivo dei nuovi dati 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352544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③  Monitoraggio continuo: ogni cliente viene comparato con l'evoluzione del suo cluster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974336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④  Alert quando un cliente 'migra' verso un cluster a rischio più elevato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989320"/>
            <a:ext cx="4572000" cy="640080"/>
          </a:xfrm>
          <a:prstGeom prst="rect">
            <a:avLst/>
          </a:prstGeom>
          <a:solidFill>
            <a:srgbClr val="0A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035040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FC000"/>
                </a:solidFill>
                <a:latin typeface="Calibri"/>
              </a:rPr>
              <a:t>💡 Base scientifica per l'early warning. I cluster definiscono il 'normale' — le deviazioni diventano automaticamente segnali di allarme.</a:t>
            </a:r>
          </a:p>
        </p:txBody>
      </p:sp>
      <p:pic>
        <p:nvPicPr>
          <p:cNvPr id="18" name="Picture 17" descr="e6_cluster_clientela_1774533332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502920"/>
            <a:ext cx="6675120" cy="612648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4C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5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82880"/>
            <a:ext cx="594360" cy="411480"/>
          </a:xfrm>
          <a:prstGeom prst="rect">
            <a:avLst/>
          </a:prstGeom>
          <a:solidFill>
            <a:srgbClr val="4C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90E1C"/>
                </a:solidFill>
                <a:latin typeface="Calibri"/>
              </a:rPr>
              <a:t>E7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CE08A"/>
                </a:solidFill>
                <a:latin typeface="Calibri"/>
              </a:rPr>
              <a:t>🔴 PRIORITÀ ALTA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8580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Lettura e Sintesi Allegati Documentali (OCR + AI)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2286000" cy="32004"/>
          </a:xfrm>
          <a:prstGeom prst="rect">
            <a:avLst/>
          </a:prstGeom>
          <a:solidFill>
            <a:srgbClr val="4C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E08A"/>
                </a:solidFill>
                <a:latin typeface="Calibri"/>
              </a:rPr>
              <a:t>COS'È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874519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0"/>
                </a:solidFill>
                <a:latin typeface="Calibri"/>
              </a:rPr>
              <a:t>Modulo che legge automaticamente i documenti PDF allegati alla pratica (bilanci, visure, contratti, perizie) e ne estrae gli elementi critici evidenziandoli all'analista.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834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E08A"/>
                </a:solidFill>
                <a:latin typeface="Calibri"/>
              </a:rPr>
              <a:t>COME FUNZIONA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10896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①  OCR ad alta precisione su PDF scansionati (LlamaParse / Tesseract)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73075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②  Estrazione strutturata di dati chiave: date, importi, soggetti, clausole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352544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③  AI sintesi: 'Questo contratto di leasing ha una clausola di accelerazione al downgrade'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974336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④  Highlight automatico degli elementi che richiedono approfondimento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989320"/>
            <a:ext cx="4572000" cy="640080"/>
          </a:xfrm>
          <a:prstGeom prst="rect">
            <a:avLst/>
          </a:prstGeom>
          <a:solidFill>
            <a:srgbClr val="0A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035040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FC000"/>
                </a:solidFill>
                <a:latin typeface="Calibri"/>
              </a:rPr>
              <a:t>💡 Elimina ore di lettura manuale di documenti. Riduce il rischio di tralasciare clausole critiche. Direttamente integrabile nella pipeline OCR già presente.</a:t>
            </a:r>
          </a:p>
        </p:txBody>
      </p:sp>
      <p:pic>
        <p:nvPicPr>
          <p:cNvPr id="18" name="Picture 17" descr="e7_ocr_allegati_17745334002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502920"/>
            <a:ext cx="6675120" cy="612648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4C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051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82880"/>
            <a:ext cx="594360" cy="4114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82880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90E1C"/>
                </a:solidFill>
                <a:latin typeface="Calibri"/>
              </a:rPr>
              <a:t>E8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000"/>
                </a:solidFill>
                <a:latin typeface="Calibri"/>
              </a:rPr>
              <a:t>🟡 PRIORITÀ MEDIA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85800"/>
            <a:ext cx="4572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Verifica Aderenza alle Policy Creditizie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463040"/>
            <a:ext cx="2286000" cy="3200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600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000"/>
                </a:solidFill>
                <a:latin typeface="Calibri"/>
              </a:rPr>
              <a:t>COS'È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1874519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0"/>
                </a:solidFill>
                <a:latin typeface="Calibri"/>
              </a:rPr>
              <a:t>Modulo che verifica automaticamente se il contenuto e le conclusioni della pratica sono conformi alle policy creditizie interne della banca.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834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C000"/>
                </a:solidFill>
                <a:latin typeface="Calibri"/>
              </a:rPr>
              <a:t>COME FUNZIONA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10896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①  Caricamento del regolamento crediti interno come knowledge base (RAG)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3730752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②  Analisi della pratica rispetto alle regole: limite di concentrazione, settori esclusi, LTV, covenant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4352544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③  Checklist automatica con esito per ogni regola (✅ conforme / ❌ violazione / ⚠️ attenzione)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4974336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④  Score di compliance complessivo con evidenza delle violazioni per il credit officer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5989320"/>
            <a:ext cx="4572000" cy="640080"/>
          </a:xfrm>
          <a:prstGeom prst="rect">
            <a:avLst/>
          </a:prstGeom>
          <a:solidFill>
            <a:srgbClr val="0A28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035040"/>
            <a:ext cx="4480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FFC000"/>
                </a:solidFill>
                <a:latin typeface="Calibri"/>
              </a:rPr>
              <a:t>💡 Standardizza la qualità delle pratiche. Riduce il rischio operativo da errori umani su regole complesse. Si integra con l'Audit Trail esistente.</a:t>
            </a:r>
          </a:p>
        </p:txBody>
      </p:sp>
      <p:pic>
        <p:nvPicPr>
          <p:cNvPr id="18" name="Picture 17" descr="e8_aderenza_policy_17745334202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502920"/>
            <a:ext cx="6675120" cy="612648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E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Roadmap di Sviluppo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04672"/>
            <a:ext cx="2560320" cy="36576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3931920"/>
            <a:ext cx="11155680" cy="54864"/>
          </a:xfrm>
          <a:prstGeom prst="rect">
            <a:avLst/>
          </a:prstGeom>
          <a:solidFill>
            <a:srgbClr val="1E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63040" y="3822191"/>
            <a:ext cx="274320" cy="274320"/>
          </a:xfrm>
          <a:prstGeom prst="rect">
            <a:avLst/>
          </a:prstGeom>
          <a:solidFill>
            <a:srgbClr val="4C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160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CE08A"/>
                </a:solidFill>
                <a:latin typeface="Calibri"/>
              </a:rPr>
              <a:t>FASE 1
Q3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2560320" cy="64008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377440"/>
            <a:ext cx="45720" cy="640080"/>
          </a:xfrm>
          <a:prstGeom prst="rect">
            <a:avLst/>
          </a:prstGeom>
          <a:solidFill>
            <a:srgbClr val="4C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4231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E7 — OCR Allegati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54680"/>
            <a:ext cx="2560320" cy="64008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154680"/>
            <a:ext cx="45720" cy="640080"/>
          </a:xfrm>
          <a:prstGeom prst="rect">
            <a:avLst/>
          </a:prstGeom>
          <a:solidFill>
            <a:srgbClr val="4CE0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2004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E4 — Early Warning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80560" y="3822191"/>
            <a:ext cx="274320" cy="2743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4160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FF"/>
                </a:solidFill>
                <a:latin typeface="Calibri"/>
              </a:rPr>
              <a:t>FASE 2
Q4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0" y="2377440"/>
            <a:ext cx="2560320" cy="64008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2377440"/>
            <a:ext cx="45720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84448" y="24231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E6 — Cluster Clientela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3154680"/>
            <a:ext cx="2560320" cy="64008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4720" y="3154680"/>
            <a:ext cx="45720" cy="6400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84448" y="32004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E1 — Simulatore Prodotto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0" y="3822191"/>
            <a:ext cx="274320" cy="2743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160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000"/>
                </a:solidFill>
                <a:latin typeface="Calibri"/>
              </a:rPr>
              <a:t>FASE 3
Q1 2027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92240" y="2377440"/>
            <a:ext cx="2560320" cy="64008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92240" y="2377440"/>
            <a:ext cx="45720" cy="6400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1968" y="24231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E8 — Verifica Policy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154680"/>
            <a:ext cx="2560320" cy="64008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92240" y="3154680"/>
            <a:ext cx="45720" cy="6400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32004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E2 — Cluster Pagamento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15600" y="3822191"/>
            <a:ext cx="274320" cy="274320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09760" y="4160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7B8D"/>
                </a:solidFill>
                <a:latin typeface="Calibri"/>
              </a:rPr>
              <a:t>FASE 4
Q2 2027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509760" y="2377440"/>
            <a:ext cx="2560320" cy="64008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09760" y="2377440"/>
            <a:ext cx="45720" cy="640080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19488" y="242316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E5 — Rischio 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09760" y="3154680"/>
            <a:ext cx="2560320" cy="64008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509760" y="3154680"/>
            <a:ext cx="45720" cy="640080"/>
          </a:xfrm>
          <a:prstGeom prst="rect">
            <a:avLst/>
          </a:prstGeom>
          <a:solidFill>
            <a:srgbClr val="6B7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19488" y="320040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E3 — Teoria Giochi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B8D"/>
                </a:solidFill>
                <a:latin typeface="Calibri"/>
              </a:rPr>
              <a:t>Metis ACE — Roadmap 2026–2027  |  Soggetto a revisione trimestrale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