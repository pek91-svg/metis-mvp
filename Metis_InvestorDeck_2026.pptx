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88952" cy="228600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>
                <a:solidFill>
                  <a:srgbClr val="FFFFFF"/>
                </a:solidFill>
                <a:latin typeface="Calibri"/>
              </a:rPr>
              <a:t>METIS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48840"/>
            <a:ext cx="164592" cy="164592"/>
          </a:xfrm>
          <a:prstGeom prst="ellipse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0574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E8"/>
                </a:solidFill>
                <a:latin typeface="Calibri"/>
              </a:rPr>
              <a:t>AI Credit Intelligence for Italian Banks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BAD0"/>
                </a:solidFill>
                <a:latin typeface="Calibri"/>
              </a:rPr>
              <a:t>Il motore AI glass-box per il credit underwriting delle PMI italiane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371600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 6–9 ore a 30 secondi.  Spiegato.  Conforme.  Automatizzato.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3566160" cy="14630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E8"/>
                </a:solidFill>
                <a:latin typeface="Calibri"/>
              </a:rPr>
              <a:t>🚀  Velocità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80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0"/>
                </a:solidFill>
                <a:latin typeface="Calibri"/>
              </a:rPr>
              <a:t>&lt; 30 sec per pratica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4023360"/>
            <a:ext cx="3566160" cy="14630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E8"/>
                </a:solidFill>
                <a:latin typeface="Calibri"/>
              </a:rPr>
              <a:t>🔍  Explainability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480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0"/>
                </a:solidFill>
                <a:latin typeface="Calibri"/>
              </a:rPr>
              <a:t>XAI + SHAP su ogni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4023360"/>
            <a:ext cx="3566160" cy="14630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E8"/>
                </a:solidFill>
                <a:latin typeface="Calibri"/>
              </a:rPr>
              <a:t>✅  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480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0"/>
                </a:solidFill>
                <a:latin typeface="Calibri"/>
              </a:rPr>
              <a:t>EU AI Act nativo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Marzo 2026  ·  Confidenziale  ·  Altermaind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AD0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E8"/>
                </a:solidFill>
                <a:latin typeface="Calibri"/>
              </a:rPr>
              <a:t>Il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0"/>
                </a:solidFill>
                <a:latin typeface="Calibri"/>
              </a:rPr>
              <a:t>Il credito alle PMI italiane è ancora manuale, lento e opaco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AD0"/>
                </a:solidFill>
                <a:latin typeface="Calibri"/>
              </a:rPr>
              <a:t>2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639312" cy="19202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⏱️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508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C430"/>
                </a:solidFill>
                <a:latin typeface="Calibri"/>
              </a:rPr>
              <a:t>6–9 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1305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AD0"/>
                </a:solidFill>
                <a:latin typeface="Calibri"/>
              </a:rPr>
              <a:t>per analizzare una
pratica PMI in Italia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143000"/>
            <a:ext cx="3639312" cy="19202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1508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C430"/>
                </a:solidFill>
                <a:latin typeface="Calibri"/>
              </a:rPr>
              <a:t>500+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1305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AD0"/>
                </a:solidFill>
                <a:latin typeface="Calibri"/>
              </a:rPr>
              <a:t>uffici credito che usano
ancora Excel e PDF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38744" y="1143000"/>
            <a:ext cx="3639312" cy="19202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234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15087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C430"/>
                </a:solidFill>
                <a:latin typeface="Calibri"/>
              </a:rPr>
              <a:t>€180B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13055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AD0"/>
                </a:solidFill>
                <a:latin typeface="Calibri"/>
              </a:rPr>
              <a:t>impieghi PMI con analisi
manuale inefficiente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46120"/>
            <a:ext cx="11365992" cy="324612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446780"/>
            <a:ext cx="76200" cy="762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3832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Gli analisti bancari dedicano l'80% del tempo alla raccolta dati manuale, non all'analisi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977132"/>
            <a:ext cx="76200" cy="762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1363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Le pratiche PEF vengono costruite su bilanci vecchi di 18 mesi — nessun nowcasting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507484"/>
            <a:ext cx="76200" cy="762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443984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Zero explainability: le banche non possono motivare ai clienti le decisioni AI (obbligo EU AI Act 2026)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037836"/>
            <a:ext cx="76200" cy="762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974336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Il 73% del tempo lavorativo bancario è influenzabile dall'AI  (fonte: Accenture, 2025)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568188"/>
            <a:ext cx="76200" cy="762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504688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Nessun player verticale italiano copre PEF + Centrale Rischi + XBRL in un unico sistema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E8"/>
                </a:solidFill>
                <a:latin typeface="Calibri"/>
              </a:rPr>
              <a:t>La Soluzione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0"/>
                </a:solidFill>
                <a:latin typeface="Calibri"/>
              </a:rPr>
              <a:t>METIS: da 6 ore a 30 secondi · Spiegato · Conforme · Automatizzato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AD0"/>
                </a:solidFill>
                <a:latin typeface="Calibri"/>
              </a:rPr>
              <a:t>3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11457432" cy="128016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0800" cy="128016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8016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  <a:latin typeface="Calibri"/>
              </a:rPr>
              <a:t>"METIS è il primo motore AI glass-box verticale sul credito PMI italiano:
8 moduli AI integrati, EU AI Act compliant, human-in-the-loop by design."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51760"/>
            <a:ext cx="3639312" cy="34747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651760"/>
            <a:ext cx="3639312" cy="508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8EFF"/>
                </a:solidFill>
                <a:latin typeface="Calibri"/>
              </a:rPr>
              <a:t>🚀  Velocità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86328"/>
            <a:ext cx="63500" cy="635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1012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Analisi completa in &lt; 30 secondi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98392"/>
            <a:ext cx="63500" cy="635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22192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vs 6–9 ore del processo manuale attuale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410456"/>
            <a:ext cx="63500" cy="635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34256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Pipeline multi-agent asincrona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2651760"/>
            <a:ext cx="3639312" cy="34747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2651760"/>
            <a:ext cx="3639312" cy="508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2743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E8"/>
                </a:solidFill>
                <a:latin typeface="Calibri"/>
              </a:rPr>
              <a:t>🔍  Explainability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3712" y="3386328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2312" y="331012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SHAP feature importance su ogni score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53712" y="3898392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82312" y="3822192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Source attribution: ogni paragrafo linkato alla fonte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53712" y="4410456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4334256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Confidence score per ogni sezione LLM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38744" y="2651760"/>
            <a:ext cx="3639312" cy="34747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38744" y="2651760"/>
            <a:ext cx="3639312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4" y="27432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  <a:latin typeface="Calibri"/>
              </a:rPr>
              <a:t>✅  Compliance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67344" y="3386328"/>
            <a:ext cx="63500" cy="6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95944" y="3310128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EU AI Act Regolamento UE 2024/1689 nativo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67344" y="3898392"/>
            <a:ext cx="63500" cy="6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95944" y="3822192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Audit trail SHA-256 immutabile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67344" y="4410456"/>
            <a:ext cx="63500" cy="6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95944" y="4334256"/>
            <a:ext cx="3017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Human-in-the-loop obbligatorio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E8"/>
                </a:solidFill>
                <a:latin typeface="Calibri"/>
              </a:rPr>
              <a:t>Il Prodotto: 8 Moduli 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0"/>
                </a:solidFill>
                <a:latin typeface="Calibri"/>
              </a:rPr>
              <a:t>Architettura modulare — pipeline AI integrata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AD0"/>
                </a:solidFill>
                <a:latin typeface="Calibri"/>
              </a:rPr>
              <a:t>4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834640" cy="14173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834640" cy="381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502920" cy="3200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80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M1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2618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Sintesi Commenti
Storici PEF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01952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Calibri"/>
              </a:rPr>
              <a:t>LLM + anti-hallucination
+ confidence score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188720"/>
            <a:ext cx="2834640" cy="14173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1188720"/>
            <a:ext cx="283464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0168" y="1298448"/>
            <a:ext cx="502920" cy="32004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0168" y="1280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M2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2618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Nowcasting
Reputazionale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1901952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Calibri"/>
              </a:rPr>
              <a:t>Web scraping + FinBERT
+ sentiment score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188720"/>
            <a:ext cx="2834640" cy="14173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188720"/>
            <a:ext cx="2834640" cy="3810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93408" y="1298448"/>
            <a:ext cx="502920" cy="32004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1280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12618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KPI Bilancio +
Risk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1901952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Calibri"/>
              </a:rPr>
              <a:t>Deterministico Python
+ XGBoost + SHAP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6920" y="1188720"/>
            <a:ext cx="2834640" cy="14173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188720"/>
            <a:ext cx="283464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56648" y="1298448"/>
            <a:ext cx="502920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56648" y="1280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M4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12618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Benchmark
ATECO / ISTAT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8" y="1901952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Calibri"/>
              </a:rPr>
              <a:t>200 codici ATECO,
percentile esatto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788920"/>
            <a:ext cx="2834640" cy="14173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788920"/>
            <a:ext cx="2834640" cy="381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2898648"/>
            <a:ext cx="502920" cy="3200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28803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M5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28620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Analisi CR
12 Mesi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502152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Calibri"/>
              </a:rPr>
              <a:t>Anomaly detection
(Z-score statistico)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788920"/>
            <a:ext cx="2834640" cy="14173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20440" y="2788920"/>
            <a:ext cx="283464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30168" y="2898648"/>
            <a:ext cx="502920" cy="32004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30168" y="28803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M6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28620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Cross-Check
CR vs Bilancio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30168" y="3502152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Calibri"/>
              </a:rPr>
              <a:t>Delta%, severity OK /
WARNING / CRITICAL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2788920"/>
            <a:ext cx="2834640" cy="14173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2788920"/>
            <a:ext cx="2834640" cy="3810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93408" y="2898648"/>
            <a:ext cx="502920" cy="32004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93408" y="28803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M7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28620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Forecast DSCR
Prospettico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93408" y="3502152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Calibri"/>
              </a:rPr>
              <a:t>3 scenari: Ottimistico
/ Base / Stress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20" y="2788920"/>
            <a:ext cx="2834640" cy="141732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20" y="2788920"/>
            <a:ext cx="283464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756648" y="2898648"/>
            <a:ext cx="502920" cy="3200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56648" y="28803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M8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32720" y="286207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SWOT Matrix
Auto-Generata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56648" y="3502152"/>
            <a:ext cx="26151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Calibri"/>
              </a:rPr>
              <a:t>Aggrega M2+M3+M4+M5,
narrativa LLM executive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577840"/>
            <a:ext cx="11274552" cy="1905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6692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E8"/>
                </a:solidFill>
                <a:latin typeface="Calibri"/>
              </a:rPr>
              <a:t>🧠  XAI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0076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Calibri"/>
              </a:rPr>
              <a:t>SHAP + source attribution su ogni output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70832" y="56692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E8"/>
                </a:solidFill>
                <a:latin typeface="Calibri"/>
              </a:rPr>
              <a:t>📜  Audit Trail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70832" y="60076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Calibri"/>
              </a:rPr>
              <a:t>Record SHA-256 immutabile — Compliance ready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84464" y="56692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E8"/>
                </a:solidFill>
                <a:latin typeface="Calibri"/>
              </a:rPr>
              <a:t>🎛️  Visual Policy Builder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84464" y="600760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Calibri"/>
              </a:rPr>
              <a:t>configurazione no-code del flusso decisionale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E8"/>
                </a:solidFill>
                <a:latin typeface="Calibri"/>
              </a:rPr>
              <a:t>La Pratica PEF che si Scrive da Sola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0"/>
                </a:solidFill>
                <a:latin typeface="Calibri"/>
              </a:rPr>
              <a:t>Ogni numero verificato · Ogni paragrafo linkato alla fonte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AD0"/>
                </a:solidFill>
                <a:latin typeface="Calibri"/>
              </a:rPr>
              <a:t>5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943600" cy="53492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943600" cy="381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EFF"/>
                </a:solidFill>
                <a:latin typeface="Calibri"/>
              </a:rPr>
              <a:t>🖥  METIS Dashboard — Pratica #2024-1187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M1 Sintesi Commenti Storici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6916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2ECC71"/>
                </a:solidFill>
                <a:latin typeface="Calibri"/>
              </a:rPr>
              <a:t>✅ Completato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854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M2 Nowcasting Reputazionale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218541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2ECC71"/>
                </a:solidFill>
                <a:latin typeface="Calibri"/>
              </a:rPr>
              <a:t>✅ Completato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7919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M3 KPI Bilancio + Risk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67919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2ECC71"/>
                </a:solidFill>
                <a:latin typeface="Calibri"/>
              </a:rPr>
              <a:t>✅ Completato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17296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M4 Benchmark ATECO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1729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2ECC71"/>
                </a:solidFill>
                <a:latin typeface="Calibri"/>
              </a:rPr>
              <a:t>✅ Completato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6674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M5 Analisi CR 12 Mesi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66674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FFC430"/>
                </a:solidFill>
                <a:latin typeface="Calibri"/>
              </a:rPr>
              <a:t>⚠️ 1 anomalia WARNING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M6 Cross-Check CR vs Bilancio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41605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2ECC71"/>
                </a:solidFill>
                <a:latin typeface="Calibri"/>
              </a:rPr>
              <a:t>✅ Delta 4.2% — 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65429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M7 DSCR Forecast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6542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2ECC71"/>
                </a:solidFill>
                <a:latin typeface="Calibri"/>
              </a:rPr>
              <a:t>✅ Scenario Base: 1.32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4807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M8 SWOT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514807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50" b="0" i="0">
                <a:solidFill>
                  <a:srgbClr val="2ECC71"/>
                </a:solidFill>
                <a:latin typeface="Calibri"/>
              </a:rPr>
              <a:t>✅ Generata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897880"/>
            <a:ext cx="5303520" cy="18288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5897880"/>
            <a:ext cx="1463040" cy="1828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1081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CC71"/>
                </a:solidFill>
                <a:latin typeface="Calibri"/>
              </a:rPr>
              <a:t>Risk Score: 0.28  (LOW RISK)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1188720"/>
            <a:ext cx="5257800" cy="12344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0" y="1188720"/>
            <a:ext cx="38100" cy="12344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48272" y="12984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F"/>
                </a:solidFill>
                <a:latin typeface="Calibri"/>
              </a:rPr>
              <a:t>Risk Score 0–1 con SHAP Waterfall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1691640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Feature importance: Leverage +0.23 · DSCR +0.18 · CR utilization +0.11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532888"/>
            <a:ext cx="5257800" cy="12344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0" y="2532888"/>
            <a:ext cx="38100" cy="123444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48272" y="2642616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E8"/>
                </a:solidFill>
                <a:latin typeface="Calibri"/>
              </a:rPr>
              <a:t>SWOT Auto-Generata con Evidenze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3035808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Forza: EBITDA Margin 14% &gt; mediana ISTAT 8% · Debolezza: CR utilization 88% (alert)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877056"/>
            <a:ext cx="5257800" cy="12344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0" y="3877056"/>
            <a:ext cx="38100" cy="123444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48272" y="398678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30"/>
                </a:solidFill>
                <a:latin typeface="Calibri"/>
              </a:rPr>
              <a:t>DSCR 3 Scenari (Ottimistico/Base/Stress)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8272" y="4379976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Ottimistico 1.65 · Base 1.32 · Stress 0.94 → flag Stress &lt; 1.0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5221224"/>
            <a:ext cx="5257800" cy="12344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0" y="5221224"/>
            <a:ext cx="38100" cy="1234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48272" y="53309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  <a:latin typeface="Calibri"/>
              </a:rPr>
              <a:t>Report PDF bancario-standard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5724144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Export PDF/HTML · EU AI Act disclaimer obbligatorio · Audit trail allegato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E8"/>
                </a:solidFill>
                <a:latin typeface="Calibri"/>
              </a:rPr>
              <a:t>Il Mercato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0"/>
                </a:solidFill>
                <a:latin typeface="Calibri"/>
              </a:rPr>
              <a:t>Un mercato enorme, regolato e non ancora servito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AD0"/>
                </a:solidFill>
                <a:latin typeface="Calibri"/>
              </a:rPr>
              <a:t>6 / 11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1143000"/>
            <a:ext cx="5669280" cy="5303520"/>
          </a:xfrm>
          <a:prstGeom prst="ellipse">
            <a:avLst/>
          </a:prstGeom>
          <a:solidFill>
            <a:srgbClr val="12183A"/>
          </a:solidFill>
          <a:ln w="25400">
            <a:solidFill>
              <a:srgbClr val="4F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691640"/>
            <a:ext cx="4754880" cy="4206240"/>
          </a:xfrm>
          <a:prstGeom prst="ellipse">
            <a:avLst/>
          </a:prstGeom>
          <a:solidFill>
            <a:srgbClr val="12183A"/>
          </a:solidFill>
          <a:ln w="25400">
            <a:solidFill>
              <a:srgbClr val="00D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2331720"/>
            <a:ext cx="3657600" cy="2926080"/>
          </a:xfrm>
          <a:prstGeom prst="ellipse">
            <a:avLst/>
          </a:prstGeom>
          <a:solidFill>
            <a:srgbClr val="12183A"/>
          </a:solidFill>
          <a:ln w="25400">
            <a:solidFill>
              <a:srgbClr val="FF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618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EFF"/>
                </a:solidFill>
                <a:latin typeface="Calibri"/>
              </a:rPr>
              <a:t>TAM  €4.2B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AD0"/>
                </a:solidFill>
                <a:latin typeface="Calibri"/>
              </a:rPr>
              <a:t>Credit AI globale · CAGR 24%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E8"/>
                </a:solidFill>
                <a:latin typeface="Calibri"/>
              </a:rPr>
              <a:t>SAM  €420M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AD0"/>
                </a:solidFill>
                <a:latin typeface="Calibri"/>
              </a:rPr>
              <a:t>Europa sud + IT · banche PMI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30"/>
                </a:solidFill>
                <a:latin typeface="Calibri"/>
              </a:rPr>
              <a:t>SOM  €42M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1546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0"/>
                </a:solidFill>
                <a:latin typeface="Calibri"/>
              </a:rPr>
              <a:t>Target immediato:
~500 istituti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E8"/>
                </a:solidFill>
                <a:latin typeface="Calibri"/>
              </a:rPr>
              <a:t>Acceleratori Normativi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783080"/>
            <a:ext cx="5486400" cy="13258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783080"/>
            <a:ext cx="38100" cy="132588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8928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EFF"/>
                </a:solidFill>
                <a:latin typeface="Calibri"/>
              </a:rPr>
              <a:t>EU AI Act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24028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Obbligo explainability: i competitor black-box
non sono conformi → exit forzata dal mercato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218688"/>
            <a:ext cx="5486400" cy="13258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218688"/>
            <a:ext cx="38100" cy="132588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332841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E8"/>
                </a:solidFill>
                <a:latin typeface="Calibri"/>
              </a:rPr>
              <a:t>Codice della Crisi d'Impresa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675888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Più obblighi di monitoraggio bancario proattivo
→ bisogno di early warning automatizzati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654296"/>
            <a:ext cx="5486400" cy="13258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654296"/>
            <a:ext cx="38100" cy="132588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7640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430"/>
                </a:solidFill>
                <a:latin typeface="Calibri"/>
              </a:rPr>
              <a:t>Basilea IV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5111496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Più capitale richiesto senza scoring accurato
→ incentivo a investire in AI credit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E8"/>
                </a:solidFill>
                <a:latin typeface="Calibri"/>
              </a:rPr>
              <a:t>Posizionamento Competitivo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0"/>
                </a:solidFill>
                <a:latin typeface="Calibri"/>
              </a:rPr>
              <a:t>METIS: il quadrante più strategico e meno affollato del mercato europeo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AD0"/>
                </a:solidFill>
                <a:latin typeface="Calibri"/>
              </a:rPr>
              <a:t>7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834640" cy="265176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0" y="1143000"/>
            <a:ext cx="2834640" cy="265176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3794760"/>
            <a:ext cx="2834640" cy="265176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3794760"/>
            <a:ext cx="2834640" cy="265176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143000"/>
            <a:ext cx="2834640" cy="2651760"/>
          </a:xfrm>
          <a:prstGeom prst="rect">
            <a:avLst/>
          </a:prstGeom>
          <a:solidFill>
            <a:srgbClr val="0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143000"/>
            <a:ext cx="2834640" cy="381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143000"/>
            <a:ext cx="38100" cy="265176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E8"/>
                </a:solidFill>
                <a:latin typeface="Calibri"/>
              </a:rPr>
              <a:t>✅ METIS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783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AD0"/>
                </a:solidFill>
                <a:latin typeface="Calibri"/>
              </a:rPr>
              <a:t>Target Quadrant
High Auto + High XAI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14173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Zest AI · Scienaptic
ACTICO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977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FICO · Experian
PowerCurve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690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Processi bancari
tradizionali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AD0"/>
                </a:solidFill>
                <a:latin typeface="Calibri"/>
              </a:rPr>
              <a:t>← Bassa 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64922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8EFF"/>
                </a:solidFill>
                <a:latin typeface="Calibri"/>
              </a:rPr>
              <a:t>Alta Explainability 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114300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0"/>
                </a:solidFill>
                <a:latin typeface="Calibri"/>
              </a:rPr>
              <a:t>↑ Alta Automazione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379476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AD0"/>
                </a:solidFill>
                <a:latin typeface="Calibri"/>
              </a:rPr>
              <a:t>↓ Bassa Automazione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1188720"/>
            <a:ext cx="2103120" cy="384048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12161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E8"/>
                </a:solidFill>
                <a:latin typeface="Calibri"/>
              </a:rPr>
              <a:t>Feature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1188720"/>
            <a:ext cx="731520" cy="384048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121615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  <a:latin typeface="Calibri"/>
              </a:rPr>
              <a:t>METIS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1188720"/>
            <a:ext cx="731520" cy="384048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21615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BAD0"/>
                </a:solidFill>
                <a:latin typeface="Calibri"/>
              </a:rPr>
              <a:t>FICO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1188720"/>
            <a:ext cx="731520" cy="384048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1216152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BAD0"/>
                </a:solidFill>
                <a:latin typeface="Calibri"/>
              </a:rPr>
              <a:t>Zest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89920" y="1188720"/>
            <a:ext cx="1097280" cy="384048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35640" y="12161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BAD0"/>
                </a:solidFill>
                <a:latin typeface="Calibri"/>
              </a:rPr>
              <a:t>Tradicionale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1572768"/>
            <a:ext cx="5394960" cy="4572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162763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XAI / Glass-box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162763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162763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430"/>
                </a:solidFill>
                <a:latin typeface="Calibri"/>
              </a:rPr>
              <a:t>⚠️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162763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AD0"/>
                </a:solidFill>
                <a:latin typeface="Calibri"/>
              </a:rPr>
              <a:t>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35640" y="16276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AD0"/>
                </a:solidFill>
                <a:latin typeface="Calibri"/>
              </a:rPr>
              <a:t>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2048256"/>
            <a:ext cx="5394960" cy="45720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21031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Verticale IT (PEF/CR)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41080" y="210312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210312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AD0"/>
                </a:solidFill>
                <a:latin typeface="Calibri"/>
              </a:rPr>
              <a:t>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2103120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AD0"/>
                </a:solidFill>
                <a:latin typeface="Calibri"/>
              </a:rP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35640" y="21031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AD0"/>
                </a:solidFill>
                <a:latin typeface="Calibri"/>
              </a:rPr>
              <a:t>❌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2523744"/>
            <a:ext cx="5394960" cy="4572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37960" y="257860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EU AI Act compliant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25786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25786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430"/>
                </a:solidFill>
                <a:latin typeface="Calibri"/>
              </a:rPr>
              <a:t>⚠️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4120" y="2578608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AD0"/>
                </a:solidFill>
                <a:latin typeface="Calibri"/>
              </a:rPr>
              <a:t>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35640" y="257860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AD0"/>
                </a:solidFill>
                <a:latin typeface="Calibri"/>
              </a:rPr>
              <a:t>N/A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2999232"/>
            <a:ext cx="5394960" cy="45720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37960" y="30540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Policy Builder no-code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305409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72600" y="305409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AD0"/>
                </a:solidFill>
                <a:latin typeface="Calibri"/>
              </a:rPr>
              <a:t>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4120" y="3054096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AD0"/>
                </a:solidFill>
                <a:latin typeface="Calibri"/>
              </a:rPr>
              <a:t>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35640" y="305409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AD0"/>
                </a:solidFill>
                <a:latin typeface="Calibri"/>
              </a:rPr>
              <a:t>❌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92240" y="3474720"/>
            <a:ext cx="5394960" cy="45720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37960" y="352958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&lt; 30 sec per pratica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41080" y="352958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CC71"/>
                </a:solidFill>
                <a:latin typeface="Calibri"/>
              </a:rPr>
              <a:t>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72600" y="352958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AD0"/>
                </a:solidFill>
                <a:latin typeface="Calibri"/>
              </a:rPr>
              <a:t>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04120" y="352958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430"/>
                </a:solidFill>
                <a:latin typeface="Calibri"/>
              </a:rPr>
              <a:t>⚠️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35640" y="352958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BAD0"/>
                </a:solidFill>
                <a:latin typeface="Calibri"/>
              </a:rPr>
              <a:t>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E8"/>
                </a:solidFill>
                <a:latin typeface="Calibri"/>
              </a:rPr>
              <a:t>USP &amp; Vantaggio Competitivo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0"/>
                </a:solidFill>
                <a:latin typeface="Calibri"/>
              </a:rPr>
              <a:t>5 vantaggi strutturali difficili da replicare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AD0"/>
                </a:solidFill>
                <a:latin typeface="Calibri"/>
              </a:rPr>
              <a:t>8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57432" cy="10058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50800" cy="10058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1490472"/>
            <a:ext cx="475488" cy="475488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9047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30759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EFF"/>
                </a:solidFill>
                <a:latin typeface="Calibri"/>
              </a:rPr>
              <a:t>🔍  Glass-Box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70992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AD0"/>
                </a:solidFill>
                <a:latin typeface="Calibri"/>
              </a:rPr>
              <a:t>XAI su ogni output — non un add-on ma architettura core. SHAP waterfall + source attribution su ogni paragrafo LLM.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22576"/>
            <a:ext cx="11457432" cy="10058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322576"/>
            <a:ext cx="50800" cy="100584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578608"/>
            <a:ext cx="475488" cy="475488"/>
          </a:xfrm>
          <a:prstGeom prst="ellipse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78608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39572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E8"/>
                </a:solidFill>
                <a:latin typeface="Calibri"/>
              </a:rPr>
              <a:t>🇮🇹  Vertical Italian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79806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AD0"/>
                </a:solidFill>
                <a:latin typeface="Calibri"/>
              </a:rPr>
              <a:t>PEF, Centrale Rischi, XBRL, ISTAT ATECO integrati nativamente. Nessun competitor straniero conosce le specificità del credito bancario italiano.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10712"/>
            <a:ext cx="11457432" cy="10058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410712"/>
            <a:ext cx="50800" cy="10058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" y="3666744"/>
            <a:ext cx="475488" cy="475488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66674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48386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  <a:latin typeface="Calibri"/>
              </a:rPr>
              <a:t>✅  EU AI Act First Mover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8862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AD0"/>
                </a:solidFill>
                <a:latin typeface="Calibri"/>
              </a:rPr>
              <a:t>Compliance nativa, non retrofittata. Dal 2026 sarà obbligo di legge: i competitor black-box escono dal mercato, METIS cattura la domanda.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98848"/>
            <a:ext cx="11457432" cy="10058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498848"/>
            <a:ext cx="50800" cy="100584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4754880"/>
            <a:ext cx="475488" cy="475488"/>
          </a:xfrm>
          <a:prstGeom prst="ellipse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548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572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430"/>
                </a:solidFill>
                <a:latin typeface="Calibri"/>
              </a:rPr>
              <a:t>📊  Data Moat Proprietario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497433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AD0"/>
                </a:solidFill>
                <a:latin typeface="Calibri"/>
              </a:rPr>
              <a:t>Dataset storici PEF + benchmark ATECO proprietari che crescono con ogni banca onboardata. Più clienti = modelli più accurati = vantaggio competitivo cumulativo.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586984"/>
            <a:ext cx="11457432" cy="100584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586984"/>
            <a:ext cx="50800" cy="1005840"/>
          </a:xfrm>
          <a:prstGeom prst="rect">
            <a:avLst/>
          </a:prstGeom>
          <a:solidFill>
            <a:srgbClr val="C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080" y="5843016"/>
            <a:ext cx="475488" cy="475488"/>
          </a:xfrm>
          <a:prstGeom prst="ellipse">
            <a:avLst/>
          </a:prstGeom>
          <a:solidFill>
            <a:srgbClr val="C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843016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27"/>
                </a:solidFill>
                <a:latin typeface="Calibr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56601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7AFF"/>
                </a:solidFill>
                <a:latin typeface="Calibri"/>
              </a:rPr>
              <a:t>🎛️  Visual Policy Builder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60624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0BAD0"/>
                </a:solidFill>
                <a:latin typeface="Calibri"/>
              </a:rPr>
              <a:t>Editor drag &amp; drop no-code per il flusso decisionale. IP depositabile. Unico nel segmento bancario italiano.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AD0"/>
                </a:solidFill>
                <a:latin typeface="Calibri"/>
              </a:rPr>
              <a:t>"Con l'EU AI Act, i competitor black-box andranno incontro a frizioni normative significative. METIS è strutturalmente posizionato per catturare questa transizione."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E8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0"/>
                </a:solidFill>
                <a:latin typeface="Calibri"/>
              </a:rPr>
              <a:t>SaaS B2B con revenue ricorrente e upsell per volumi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AD0"/>
                </a:solidFill>
                <a:latin typeface="Calibri"/>
              </a:rPr>
              <a:t>9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88720"/>
            <a:ext cx="3639312" cy="3749039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88720"/>
            <a:ext cx="3639312" cy="508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F8EFF"/>
                </a:solidFill>
                <a:latin typeface="Calibri"/>
              </a:rPr>
              <a:t>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1907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Licenza base
fino a 500 pratiche/anno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377440"/>
            <a:ext cx="3246120" cy="127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505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€30K – 50K / anno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93720"/>
            <a:ext cx="63500" cy="635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Tutti gli 8 moduli 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50920"/>
            <a:ext cx="63500" cy="635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3474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Dashboard + report PDF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08120"/>
            <a:ext cx="63500" cy="635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931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SLA 99.5%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5112" y="1188720"/>
            <a:ext cx="3639312" cy="3749039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25112" y="1188720"/>
            <a:ext cx="3639312" cy="508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D4E8"/>
                </a:solidFill>
                <a:latin typeface="Calibri"/>
              </a:rPr>
              <a:t>Growth 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171907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Per pratica elaborata
via API (pay-per-use)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7992" y="2377440"/>
            <a:ext cx="3246120" cy="127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24505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€10 – 25 / pratica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309372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64024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API REST nativa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53712" y="355092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64024" y="3474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Volume discount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53712" y="400812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4024" y="3931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Ideal: 1.000–5.000 prat/anno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38744" y="1188720"/>
            <a:ext cx="3639312" cy="3749039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38744" y="1188720"/>
            <a:ext cx="3639312" cy="5080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1624" y="1280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430"/>
                </a:solidFill>
                <a:latin typeface="Calibri"/>
              </a:rPr>
              <a:t>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1624" y="171907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Licensing + custom
implementazione + training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21624" y="2377440"/>
            <a:ext cx="3246120" cy="1270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245059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€150K+ / anno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67344" y="3093720"/>
            <a:ext cx="63500" cy="6350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77656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Connettori CBS custom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67344" y="3550920"/>
            <a:ext cx="63500" cy="6350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77656" y="3474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On-premise option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67344" y="4008120"/>
            <a:ext cx="63500" cy="6350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77656" y="3931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AD0"/>
                </a:solidFill>
                <a:latin typeface="Calibri"/>
              </a:rPr>
              <a:t>Dedicated CSM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166360"/>
            <a:ext cx="11457432" cy="150876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257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E8"/>
                </a:solidFill>
                <a:latin typeface="Calibri"/>
              </a:rPr>
              <a:t>Go-To-Market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650992"/>
            <a:ext cx="6858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›  Partnership CBS primari (Temenos, CEDACRI, CSE) come canale primario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961888"/>
            <a:ext cx="6858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›  Pilota gratuito 60 gg con 2–3 BCC → conversion → scale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272784"/>
            <a:ext cx="6858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›  Year 1: 5–8 pilot  ·  Year 2: 30+ contratti attivi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5257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30"/>
                </a:solidFill>
                <a:latin typeface="Calibri"/>
              </a:rPr>
              <a:t>Unit Economics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5650992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›  ARR per banca (Growth): ~€20K–50K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98079" y="5961888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›  Gross Margin target: 75–80%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98079" y="6272784"/>
            <a:ext cx="4389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›  Payback period stimato: 9–14 mesi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E8"/>
                </a:solidFill>
                <a:latin typeface="Calibri"/>
              </a:rPr>
              <a:t>Trazione &amp; Validazione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0"/>
                </a:solidFill>
                <a:latin typeface="Calibri"/>
              </a:rPr>
              <a:t>Già costruito. Già testato. In validazione con il mercato.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AD0"/>
                </a:solidFill>
                <a:latin typeface="Calibri"/>
              </a:rPr>
              <a:t>10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E8"/>
                </a:solidFill>
                <a:latin typeface="Calibri"/>
              </a:rPr>
              <a:t>Milestone Raggiunte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75514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297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8 moduli ACE implementati e funzionanti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30378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783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240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Anti-hallucination validation su ogni output LLM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85242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8270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Gap Analysis vs specifica Finomnia: Metis supera ogni modulo richiesto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40106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37566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37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Compliance EU AI Act documentata e audit-ready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94970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92430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862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Dashboard UI live con Visual Policy Builder integrato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449834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47294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434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Audit Trail SHA-256 immutabile operativo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504698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02158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983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Data Quality Scoring automatico su ogni fonte</a:t>
            </a:r>
          </a:p>
        </p:txBody>
      </p:sp>
      <p:sp>
        <p:nvSpPr>
          <p:cNvPr id="29" name="Oval 28"/>
          <p:cNvSpPr/>
          <p:nvPr/>
        </p:nvSpPr>
        <p:spPr>
          <a:xfrm>
            <a:off x="502920" y="5595620"/>
            <a:ext cx="320040" cy="3200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570220"/>
            <a:ext cx="320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27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532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Report PDF export in formato bancario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1188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430"/>
                </a:solidFill>
                <a:latin typeface="Calibri"/>
              </a:rPr>
              <a:t>Validazione Tecnica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1691640"/>
            <a:ext cx="5394960" cy="10972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17830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430"/>
                </a:solidFill>
                <a:latin typeface="Calibri"/>
              </a:rPr>
              <a:t>&lt; 30 sec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1819656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Tempo medio per pratica completa
(vs 6–9 ore manuale)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2880360"/>
            <a:ext cx="5394960" cy="10972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971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430"/>
                </a:solidFill>
                <a:latin typeface="Calibri"/>
              </a:rPr>
              <a:t>8 /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008376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Moduli Finomnia V05 pienamente
coperti e superati da Metis 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4069080"/>
            <a:ext cx="5394960" cy="10972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4160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430"/>
                </a:solidFill>
                <a:latin typeface="Calibri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197096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Allucinazioni non rilevate su test set
con validation anti-hallucination attiva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5257800"/>
            <a:ext cx="5394960" cy="10972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5349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430"/>
                </a:solidFill>
                <a:latin typeface="Calibri"/>
              </a:rPr>
              <a:t>SHA-256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5385816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0BAD0"/>
                </a:solidFill>
                <a:latin typeface="Calibri"/>
              </a:rPr>
              <a:t>Standard di hashing audit trail
immutabile per ogni azione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6126480"/>
            <a:ext cx="11457432" cy="59436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620877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BAD0"/>
                </a:solidFill>
                <a:latin typeface="Calibri"/>
              </a:rPr>
              <a:t>⚡  Pipeline Commerciale: in discussione con istituti bancari italiani — dettagli disponibili su richiesta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E8"/>
                </a:solidFill>
                <a:latin typeface="Calibri"/>
              </a:rPr>
              <a:t>Roadmap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AD0"/>
                </a:solidFill>
                <a:latin typeface="Calibri"/>
              </a:rPr>
              <a:t>Espansione modulare e internazionalizzazione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254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B0BAD0"/>
                </a:solidFill>
                <a:latin typeface="Calibri"/>
              </a:rPr>
              <a:t>11 / 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74552" cy="381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91640" y="2852928"/>
            <a:ext cx="329184" cy="329184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F8EFF"/>
                </a:solidFill>
                <a:latin typeface="Calibri"/>
              </a:rPr>
              <a:t>Q2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91840"/>
            <a:ext cx="2788920" cy="33832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291840"/>
            <a:ext cx="2788920" cy="381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3517900"/>
            <a:ext cx="63500" cy="635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42900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Onboarding 3 BCC pilot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4340860"/>
            <a:ext cx="63500" cy="635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25196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Pilota gratuito 60 gg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163820"/>
            <a:ext cx="63500" cy="6350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07492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Feedback loop analisti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2852928"/>
            <a:ext cx="329184" cy="329184"/>
          </a:xfrm>
          <a:prstGeom prst="ellipse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240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E8"/>
                </a:solidFill>
                <a:latin typeface="Calibri"/>
              </a:rPr>
              <a:t>Q3 2026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3291840"/>
            <a:ext cx="2788920" cy="33832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0" y="3291840"/>
            <a:ext cx="2788920" cy="381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547872" y="351790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0752" y="342900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Connettori nativi:
XBRL, Bankitalia API,
Cerved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47872" y="434086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0752" y="425196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Monitoraggio continuo
12 mesi post-erogazione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47872" y="5163820"/>
            <a:ext cx="63500" cy="63500"/>
          </a:xfrm>
          <a:prstGeom prst="rect">
            <a:avLst/>
          </a:prstGeom>
          <a:solidFill>
            <a:srgbClr val="00D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507492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Early Warning System</a:t>
            </a:r>
          </a:p>
        </p:txBody>
      </p:sp>
      <p:sp>
        <p:nvSpPr>
          <p:cNvPr id="28" name="Oval 27"/>
          <p:cNvSpPr/>
          <p:nvPr/>
        </p:nvSpPr>
        <p:spPr>
          <a:xfrm>
            <a:off x="7543800" y="2852928"/>
            <a:ext cx="329184" cy="329184"/>
          </a:xfrm>
          <a:prstGeom prst="ellipse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240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C430"/>
                </a:solidFill>
                <a:latin typeface="Calibri"/>
              </a:rPr>
              <a:t>Q4 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291840"/>
            <a:ext cx="2788920" cy="33832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291840"/>
            <a:ext cx="2788920" cy="3810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73952" y="3517900"/>
            <a:ext cx="63500" cy="6350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2" y="342900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ESG Integration scoring
(conformità EBA)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73952" y="4340860"/>
            <a:ext cx="63500" cy="6350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425196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Connettore CBS nativo
Temenos / CEDACRI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73952" y="5163820"/>
            <a:ext cx="63500" cy="63500"/>
          </a:xfrm>
          <a:prstGeom prst="rect">
            <a:avLst/>
          </a:prstGeom>
          <a:solidFill>
            <a:srgbClr val="FF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507492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30+ contratti attivi</a:t>
            </a:r>
          </a:p>
        </p:txBody>
      </p:sp>
      <p:sp>
        <p:nvSpPr>
          <p:cNvPr id="38" name="Oval 37"/>
          <p:cNvSpPr/>
          <p:nvPr/>
        </p:nvSpPr>
        <p:spPr>
          <a:xfrm>
            <a:off x="10469880" y="2852928"/>
            <a:ext cx="329184" cy="329184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5440" y="22402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ECC71"/>
                </a:solidFill>
                <a:latin typeface="Calibri"/>
              </a:rPr>
              <a:t>2027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3291840"/>
            <a:ext cx="2788920" cy="3383280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3291840"/>
            <a:ext cx="2788920" cy="381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00032" y="3517900"/>
            <a:ext cx="63500" cy="6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82912" y="342900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Espansione Europa Sud:
Spagna, Portogallo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00032" y="4340860"/>
            <a:ext cx="63500" cy="6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82912" y="425196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Open Banking API
PSD2 integration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32" y="5163820"/>
            <a:ext cx="63500" cy="6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82912" y="5074920"/>
            <a:ext cx="23317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Series A / Scale-up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473952"/>
            <a:ext cx="11457432" cy="301752"/>
          </a:xfrm>
          <a:prstGeom prst="rect">
            <a:avLst/>
          </a:prstGeom>
          <a:solidFill>
            <a:srgbClr val="1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6492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E8"/>
                </a:solidFill>
                <a:latin typeface="Calibri"/>
              </a:rPr>
              <a:t>Priorità roadmap: Monitoring Continuo · Early Warning · ESG Scoring · Connettori CBS nativi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