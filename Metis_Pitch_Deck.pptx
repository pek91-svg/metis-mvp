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9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defRPr sz="2800">
                <a:solidFill>
                  <a:srgbClr val="FFFFFF"/>
                </a:solidFill>
              </a:defRPr>
            </a:pPr>
            <a:r>
              <a:t>Metis - Analisi Complementare Evoluta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defRPr sz="1400">
                <a:solidFill>
                  <a:srgbClr val="FFFFFF"/>
                </a:solidFill>
              </a:defRPr>
            </a:pPr>
            <a:r>
              <a:t>L'Intelligenza Aumentata (XAI) per l'innovazione e la conformità nel Credit Underwriting Bancario.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defRPr sz="1800" b="1">
                <a:solidFill>
                  <a:srgbClr val="002960"/>
                </a:solidFill>
              </a:defRPr>
            </a:pPr>
            <a:r>
              <a:t>L'Automazione "Glass Box" di Metis riduce i tempi istruttori garantendo compliance normativa EU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2560320" cy="2743200"/>
          </a:xfrm>
          <a:prstGeom prst="rect">
            <a:avLst/>
          </a:prstGeom>
          <a:solidFill>
            <a:srgbClr val="C9F0FF"/>
          </a:solidFill>
        </p:spPr>
        <p:txBody>
          <a:bodyPr wrap="square">
            <a:spAutoFit/>
          </a:bodyPr>
          <a:lstStyle/>
          <a:p/>
          <a:p>
            <a:pPr algn="l">
              <a:defRPr sz="1100">
                <a:solidFill>
                  <a:srgbClr val="002960"/>
                </a:solidFill>
              </a:defRPr>
            </a:pPr>
            <a:r>
              <a:t>IL PROBLEMA</a:t>
            </a:r>
            <a:br/>
            <a:br/>
            <a:r>
              <a:t>Istruttorie PEF lente, data-entry manuale tra bilanci e Centrale Rischi. Rischio di bias cognitivi.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371600"/>
            <a:ext cx="2560320" cy="2743200"/>
          </a:xfrm>
          <a:prstGeom prst="rect">
            <a:avLst/>
          </a:prstGeom>
          <a:solidFill>
            <a:srgbClr val="002960"/>
          </a:solidFill>
        </p:spPr>
        <p:txBody>
          <a:bodyPr wrap="square">
            <a:spAutoFit/>
          </a:bodyPr>
          <a:lstStyle/>
          <a:p/>
          <a:p>
            <a:pPr algn="l">
              <a:defRPr sz="1100">
                <a:solidFill>
                  <a:srgbClr val="FFFFFF"/>
                </a:solidFill>
              </a:defRPr>
            </a:pPr>
            <a:r>
              <a:t>LA SOLUZIONE METIS</a:t>
            </a:r>
            <a:br/>
            <a:br/>
            <a:r>
              <a:t>Piattaforma SaaS con 8 moduli di AI spiegabile (XAI). Si affianca all'analista offrendo insights trasparenti.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0" y="1371600"/>
            <a:ext cx="2560320" cy="2743200"/>
          </a:xfrm>
          <a:prstGeom prst="rect">
            <a:avLst/>
          </a:prstGeom>
          <a:solidFill>
            <a:srgbClr val="0065BD"/>
          </a:solidFill>
        </p:spPr>
        <p:txBody>
          <a:bodyPr wrap="square">
            <a:spAutoFit/>
          </a:bodyPr>
          <a:lstStyle/>
          <a:p/>
          <a:p>
            <a:pPr algn="l">
              <a:defRPr sz="1100">
                <a:solidFill>
                  <a:srgbClr val="FFFFFF"/>
                </a:solidFill>
              </a:defRPr>
            </a:pPr>
            <a:r>
              <a:t>IL VALORE CREATO</a:t>
            </a:r>
            <a:br/>
            <a:br/>
            <a:r>
              <a:t>Incremento AuROC: +0.6 - 1.9%</a:t>
            </a:r>
            <a:br/>
            <a:r>
              <a:t>Riduzione Tempi: -70%</a:t>
            </a:r>
            <a:br/>
            <a:r>
              <a:t>Compliance EU AI Act: 100%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defRPr sz="1800" b="1">
                <a:solidFill>
                  <a:srgbClr val="002960"/>
                </a:solidFill>
              </a:defRPr>
            </a:pPr>
            <a:r>
              <a:t>Il processo PEF attuale è frammentato, lento e soggetto a crescenti rischi operativi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1100">
                <a:solidFill>
                  <a:srgbClr val="002960"/>
                </a:solidFill>
              </a:defRPr>
            </a:pPr>
            <a:r>
              <a:t>DIAGRAMMA DEL COLLO DI BOTTIGLIA</a:t>
            </a:r>
            <a:br/>
            <a:br/>
            <a:r>
              <a:t>- Raccolta visura Centrale Rischi (PDF)</a:t>
            </a:r>
            <a:br/>
            <a:r>
              <a:t>- Estrazione dati da Bilancio (Excel)</a:t>
            </a:r>
            <a:br/>
            <a:r>
              <a:t>- Analisi web sulle news (Google)</a:t>
            </a:r>
            <a:br/>
            <a:r>
              <a:t>- Stesura report manuale (Word)</a:t>
            </a:r>
            <a:br/>
            <a:br/>
            <a:r>
              <a:t>L'analista perde il 70% del tempo nella raccolta dati, e solo il 30% nell'analisi del credito.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0" y="1371600"/>
            <a:ext cx="3657600" cy="1371600"/>
          </a:xfrm>
          <a:prstGeom prst="rect">
            <a:avLst/>
          </a:prstGeom>
          <a:solidFill>
            <a:srgbClr val="FFDB00"/>
          </a:solidFill>
        </p:spPr>
        <p:txBody>
          <a:bodyPr wrap="square">
            <a:spAutoFit/>
          </a:bodyPr>
          <a:lstStyle/>
          <a:p/>
          <a:p>
            <a:pPr algn="l">
              <a:defRPr sz="1100">
                <a:solidFill>
                  <a:srgbClr val="002960"/>
                </a:solidFill>
              </a:defRPr>
            </a:pPr>
            <a:r>
              <a:t>RISCHIO QUALITATIVO (Black Box Risk)</a:t>
            </a:r>
            <a:br/>
            <a:r>
              <a:t>Difficoltà metodologica per modelli non standard.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2926080"/>
            <a:ext cx="3657600" cy="1371600"/>
          </a:xfrm>
          <a:prstGeom prst="rect">
            <a:avLst/>
          </a:prstGeom>
          <a:solidFill>
            <a:srgbClr val="FFDB00"/>
          </a:solidFill>
        </p:spPr>
        <p:txBody>
          <a:bodyPr wrap="square">
            <a:spAutoFit/>
          </a:bodyPr>
          <a:lstStyle/>
          <a:p/>
          <a:p>
            <a:pPr algn="l">
              <a:defRPr sz="1100">
                <a:solidFill>
                  <a:srgbClr val="002960"/>
                </a:solidFill>
              </a:defRPr>
            </a:pPr>
            <a:r>
              <a:t>RISCHIO TEMPI E COSTI (Data Fragmentation)</a:t>
            </a:r>
            <a:br/>
            <a:r>
              <a:t>Perdita di competitività commerciale sulle tempistiche di delibera.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defRPr sz="1800" b="1">
                <a:solidFill>
                  <a:srgbClr val="002960"/>
                </a:solidFill>
              </a:defRPr>
            </a:pPr>
            <a:r>
              <a:t>L'EU AI Act classifica i modelli di Credit Scoring come 'Alto Rischio', vietando di fatto le scatole nere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solidFill>
            <a:srgbClr val="C9F0FF"/>
          </a:solidFill>
        </p:spPr>
        <p:txBody>
          <a:bodyPr wrap="square">
            <a:spAutoFit/>
          </a:bodyPr>
          <a:lstStyle/>
          <a:p/>
          <a:p>
            <a:pPr algn="ctr">
              <a:defRPr sz="1400">
                <a:solidFill>
                  <a:srgbClr val="002960"/>
                </a:solidFill>
              </a:defRPr>
            </a:pPr>
            <a:r>
              <a:t>A partire da Agosto 2026, l'uso dell'Intelligenza Artificiale nel credito bancario sarà soggetto ai requisiti severi di 'Explainable AI' (XAI).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0"/>
            <a:ext cx="2560320" cy="1828800"/>
          </a:xfrm>
          <a:prstGeom prst="rect">
            <a:avLst/>
          </a:prstGeom>
          <a:solidFill>
            <a:srgbClr val="002960"/>
          </a:solidFill>
        </p:spPr>
        <p:txBody>
          <a:bodyPr wrap="square">
            <a:spAutoFit/>
          </a:bodyPr>
          <a:lstStyle/>
          <a:p/>
          <a:p>
            <a:pPr algn="l">
              <a:defRPr sz="1100">
                <a:solidFill>
                  <a:srgbClr val="FFFFFF"/>
                </a:solidFill>
              </a:defRPr>
            </a:pPr>
            <a:r>
              <a:t>TRASPARENZA</a:t>
            </a:r>
            <a:br/>
            <a:br/>
            <a:r>
              <a:t>I modelli devono spiegare testualmente da quali fattori è scaturita un'approvazione o un diniego.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2743200"/>
            <a:ext cx="2560320" cy="1828800"/>
          </a:xfrm>
          <a:prstGeom prst="rect">
            <a:avLst/>
          </a:prstGeom>
          <a:solidFill>
            <a:srgbClr val="002960"/>
          </a:solidFill>
        </p:spPr>
        <p:txBody>
          <a:bodyPr wrap="square">
            <a:spAutoFit/>
          </a:bodyPr>
          <a:lstStyle/>
          <a:p/>
          <a:p>
            <a:pPr algn="l">
              <a:defRPr sz="1100">
                <a:solidFill>
                  <a:srgbClr val="FFFFFF"/>
                </a:solidFill>
              </a:defRPr>
            </a:pPr>
            <a:r>
              <a:t>HUMAN-IN-THE-LOOP</a:t>
            </a:r>
            <a:br/>
            <a:br/>
            <a:r>
              <a:t>L'IA raccomanda, l'uomo delibera. Necessità di una UX che lasci l'analista al centro del controllo.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0" y="2743200"/>
            <a:ext cx="2560320" cy="1828800"/>
          </a:xfrm>
          <a:prstGeom prst="rect">
            <a:avLst/>
          </a:prstGeom>
          <a:solidFill>
            <a:srgbClr val="002960"/>
          </a:solidFill>
        </p:spPr>
        <p:txBody>
          <a:bodyPr wrap="square">
            <a:spAutoFit/>
          </a:bodyPr>
          <a:lstStyle/>
          <a:p/>
          <a:p>
            <a:pPr algn="l">
              <a:defRPr sz="1100">
                <a:solidFill>
                  <a:srgbClr val="FFFFFF"/>
                </a:solidFill>
              </a:defRPr>
            </a:pPr>
            <a:r>
              <a:t>AUDITABILITY</a:t>
            </a:r>
            <a:br/>
            <a:br/>
            <a:r>
              <a:t>Tutte le decisioni dell'IA devono esplicitare in chiaro la fonte (es. 'Articolo Sole24Ore' o 'Pagina Bilancio').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defRPr sz="1800" b="1">
                <a:solidFill>
                  <a:srgbClr val="002960"/>
                </a:solidFill>
              </a:defRPr>
            </a:pPr>
            <a:r>
              <a:t>Metis risolve il dilemma normativo offrendo Intelligenza Aumentata ('Glass Box') nativa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3657600" cy="2743200"/>
          </a:xfrm>
          <a:prstGeom prst="rect">
            <a:avLst/>
          </a:prstGeom>
          <a:solidFill>
            <a:srgbClr val="FFDB00"/>
          </a:solidFill>
        </p:spPr>
        <p:txBody>
          <a:bodyPr wrap="square">
            <a:spAutoFit/>
          </a:bodyPr>
          <a:lstStyle/>
          <a:p/>
          <a:p>
            <a:pPr algn="ctr">
              <a:defRPr sz="1200">
                <a:solidFill>
                  <a:srgbClr val="002960"/>
                </a:solidFill>
              </a:defRPr>
            </a:pPr>
            <a:r>
              <a:t>SCENARIO ATTUALE</a:t>
            </a:r>
            <a:br/>
            <a:br/>
            <a:r>
              <a:t>- Tempi decisonali lunghi</a:t>
            </a:r>
            <a:br/>
            <a:r>
              <a:t>- Modelli legacy puramente quantitativi</a:t>
            </a:r>
            <a:br/>
            <a:r>
              <a:t>- Analisi qualitativa puramente umana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0" y="2286000"/>
            <a:ext cx="731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defRPr sz="2400">
                <a:solidFill>
                  <a:srgbClr val="002960"/>
                </a:solidFill>
              </a:defRPr>
            </a:pPr>
            <a:r>
              <a:t>=&gt;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1371600"/>
            <a:ext cx="3657600" cy="2743200"/>
          </a:xfrm>
          <a:prstGeom prst="rect">
            <a:avLst/>
          </a:prstGeom>
          <a:solidFill>
            <a:srgbClr val="002960"/>
          </a:solidFill>
        </p:spPr>
        <p:txBody>
          <a:bodyPr wrap="square">
            <a:spAutoFit/>
          </a:bodyPr>
          <a:lstStyle/>
          <a:p/>
          <a:p>
            <a:pPr algn="ctr">
              <a:defRPr sz="1200">
                <a:solidFill>
                  <a:srgbClr val="FFFFFF"/>
                </a:solidFill>
              </a:defRPr>
            </a:pPr>
            <a:r>
              <a:t>SCENARIO METIS</a:t>
            </a:r>
            <a:br/>
            <a:br/>
            <a:r>
              <a:t>- Copilot basato su GenAI (XAI)</a:t>
            </a:r>
            <a:br/>
            <a:r>
              <a:t>- 8 Moduli che incrociano testo, andamenti e bilanci</a:t>
            </a:r>
            <a:br/>
            <a:r>
              <a:t>- Suggerimenti documentali citati e validabili al 100% dall'analista.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defRPr sz="1800" b="1">
                <a:solidFill>
                  <a:srgbClr val="002960"/>
                </a:solidFill>
              </a:defRPr>
            </a:pPr>
            <a:r>
              <a:t>Un'architettura basata su 8 Moduli Core automatizza completamente l'output narrativo del fido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solidFill>
            <a:srgbClr val="002960"/>
          </a:solidFill>
        </p:spPr>
        <p:txBody>
          <a:bodyPr wrap="square">
            <a:spAutoFit/>
          </a:bodyPr>
          <a:lstStyle/>
          <a:p/>
          <a:p>
            <a:pPr algn="ctr">
              <a:defRPr sz="1200">
                <a:solidFill>
                  <a:srgbClr val="FFFFFF"/>
                </a:solidFill>
              </a:defRPr>
            </a:pPr>
            <a:r>
              <a:t>MODULI DI ANALISI DELLA DOCUMENTAZIONE E SCORING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737360"/>
            <a:ext cx="1920240" cy="1097280"/>
          </a:xfrm>
          <a:prstGeom prst="rect">
            <a:avLst/>
          </a:prstGeom>
          <a:solidFill>
            <a:srgbClr val="C9F0FF"/>
          </a:solidFill>
        </p:spPr>
        <p:txBody>
          <a:bodyPr wrap="square">
            <a:spAutoFit/>
          </a:bodyPr>
          <a:lstStyle/>
          <a:p/>
          <a:p>
            <a:pPr algn="ctr">
              <a:defRPr sz="1200">
                <a:solidFill>
                  <a:srgbClr val="002960"/>
                </a:solidFill>
              </a:defRPr>
            </a:pPr>
            <a:r>
              <a:t>1. Riepilogo Storico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0" y="1737360"/>
            <a:ext cx="1920240" cy="1097280"/>
          </a:xfrm>
          <a:prstGeom prst="rect">
            <a:avLst/>
          </a:prstGeom>
          <a:solidFill>
            <a:srgbClr val="C9F0FF"/>
          </a:solidFill>
        </p:spPr>
        <p:txBody>
          <a:bodyPr wrap="square">
            <a:spAutoFit/>
          </a:bodyPr>
          <a:lstStyle/>
          <a:p/>
          <a:p>
            <a:pPr algn="ctr">
              <a:defRPr sz="1200">
                <a:solidFill>
                  <a:srgbClr val="002960"/>
                </a:solidFill>
              </a:defRPr>
            </a:pPr>
            <a:r>
              <a:t>2. Web Sentiment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63440" y="1737360"/>
            <a:ext cx="1920240" cy="1097280"/>
          </a:xfrm>
          <a:prstGeom prst="rect">
            <a:avLst/>
          </a:prstGeom>
          <a:solidFill>
            <a:srgbClr val="C9F0FF"/>
          </a:solidFill>
        </p:spPr>
        <p:txBody>
          <a:bodyPr wrap="square">
            <a:spAutoFit/>
          </a:bodyPr>
          <a:lstStyle/>
          <a:p/>
          <a:p>
            <a:pPr algn="ctr">
              <a:defRPr sz="1200">
                <a:solidFill>
                  <a:srgbClr val="002960"/>
                </a:solidFill>
              </a:defRPr>
            </a:pPr>
            <a:r>
              <a:t>3. Analisi KPI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59" y="1737360"/>
            <a:ext cx="1920240" cy="1097280"/>
          </a:xfrm>
          <a:prstGeom prst="rect">
            <a:avLst/>
          </a:prstGeom>
          <a:solidFill>
            <a:srgbClr val="C9F0FF"/>
          </a:solidFill>
        </p:spPr>
        <p:txBody>
          <a:bodyPr wrap="square">
            <a:spAutoFit/>
          </a:bodyPr>
          <a:lstStyle/>
          <a:p/>
          <a:p>
            <a:pPr algn="ctr">
              <a:defRPr sz="1200">
                <a:solidFill>
                  <a:srgbClr val="002960"/>
                </a:solidFill>
              </a:defRPr>
            </a:pPr>
            <a:r>
              <a:t>4. Benchmark ISTAT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108960"/>
            <a:ext cx="1920240" cy="1097280"/>
          </a:xfrm>
          <a:prstGeom prst="rect">
            <a:avLst/>
          </a:prstGeom>
          <a:solidFill>
            <a:srgbClr val="C9F0FF"/>
          </a:solidFill>
        </p:spPr>
        <p:txBody>
          <a:bodyPr wrap="square">
            <a:spAutoFit/>
          </a:bodyPr>
          <a:lstStyle/>
          <a:p/>
          <a:p>
            <a:pPr algn="ctr">
              <a:defRPr sz="1200">
                <a:solidFill>
                  <a:srgbClr val="002960"/>
                </a:solidFill>
              </a:defRPr>
            </a:pPr>
            <a:r>
              <a:t>5. Pattern CR (12 m)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0" y="3108960"/>
            <a:ext cx="1920240" cy="1097280"/>
          </a:xfrm>
          <a:prstGeom prst="rect">
            <a:avLst/>
          </a:prstGeom>
          <a:solidFill>
            <a:srgbClr val="C9F0FF"/>
          </a:solidFill>
        </p:spPr>
        <p:txBody>
          <a:bodyPr wrap="square">
            <a:spAutoFit/>
          </a:bodyPr>
          <a:lstStyle/>
          <a:p/>
          <a:p>
            <a:pPr algn="ctr">
              <a:defRPr sz="1200">
                <a:solidFill>
                  <a:srgbClr val="002960"/>
                </a:solidFill>
              </a:defRPr>
            </a:pPr>
            <a:r>
              <a:t>6. Cross-check dati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3108960"/>
            <a:ext cx="1920240" cy="1097280"/>
          </a:xfrm>
          <a:prstGeom prst="rect">
            <a:avLst/>
          </a:prstGeom>
          <a:solidFill>
            <a:srgbClr val="C9F0FF"/>
          </a:solidFill>
        </p:spPr>
        <p:txBody>
          <a:bodyPr wrap="square">
            <a:spAutoFit/>
          </a:bodyPr>
          <a:lstStyle/>
          <a:p/>
          <a:p>
            <a:pPr algn="ctr">
              <a:defRPr sz="1200">
                <a:solidFill>
                  <a:srgbClr val="002960"/>
                </a:solidFill>
              </a:defRPr>
            </a:pPr>
            <a:r>
              <a:t>7. Forecast (DSCR)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59" y="3108960"/>
            <a:ext cx="1920240" cy="1097280"/>
          </a:xfrm>
          <a:prstGeom prst="rect">
            <a:avLst/>
          </a:prstGeom>
          <a:solidFill>
            <a:srgbClr val="C9F0FF"/>
          </a:solidFill>
        </p:spPr>
        <p:txBody>
          <a:bodyPr wrap="square">
            <a:spAutoFit/>
          </a:bodyPr>
          <a:lstStyle/>
          <a:p/>
          <a:p>
            <a:pPr algn="ctr">
              <a:defRPr sz="1200">
                <a:solidFill>
                  <a:srgbClr val="002960"/>
                </a:solidFill>
              </a:defRPr>
            </a:pPr>
            <a:r>
              <a:t>8. Analisi SWOT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defRPr sz="1800" b="1">
                <a:solidFill>
                  <a:srgbClr val="002960"/>
                </a:solidFill>
              </a:defRPr>
            </a:pPr>
            <a:r>
              <a:t>La superiorità analitica: incremento della capacità discriminante e abbattimento dei tempi istruttori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3200400" cy="2286000"/>
          </a:xfrm>
          <a:prstGeom prst="rect">
            <a:avLst/>
          </a:prstGeom>
          <a:solidFill>
            <a:srgbClr val="0065BD"/>
          </a:solidFill>
        </p:spPr>
        <p:txBody>
          <a:bodyPr wrap="square">
            <a:spAutoFit/>
          </a:bodyPr>
          <a:lstStyle/>
          <a:p/>
          <a:p>
            <a:pPr algn="ctr">
              <a:defRPr sz="1400">
                <a:solidFill>
                  <a:srgbClr val="FFFFFF"/>
                </a:solidFill>
              </a:defRPr>
            </a:pPr>
            <a:r>
              <a:t>AUMENTO CAPACITÀ DISCRIMINANTE</a:t>
            </a:r>
            <a:br/>
            <a:r>
              <a:t>(Backtesting)</a:t>
            </a:r>
            <a:br/>
            <a:br/>
            <a:r>
              <a:t>+0,6% -&gt; +1,9% (AuROC migliorato)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0" y="1828800"/>
            <a:ext cx="3200400" cy="2286000"/>
          </a:xfrm>
          <a:prstGeom prst="rect">
            <a:avLst/>
          </a:prstGeom>
          <a:solidFill>
            <a:srgbClr val="002960"/>
          </a:solidFill>
        </p:spPr>
        <p:txBody>
          <a:bodyPr wrap="square">
            <a:spAutoFit/>
          </a:bodyPr>
          <a:lstStyle/>
          <a:p/>
          <a:p>
            <a:pPr algn="ctr">
              <a:defRPr sz="1400">
                <a:solidFill>
                  <a:srgbClr val="FFFFFF"/>
                </a:solidFill>
              </a:defRPr>
            </a:pPr>
            <a:r>
              <a:t>RIDUZIONE TEMPI (EFFICIENZA)</a:t>
            </a:r>
            <a:br/>
            <a:br/>
            <a:r>
              <a:t>Tempi di redazione della singola PEF ridotti mediamente del 70%.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defRPr sz="1800" b="1">
                <a:solidFill>
                  <a:srgbClr val="002960"/>
                </a:solidFill>
              </a:defRPr>
            </a:pPr>
            <a:r>
              <a:t>Rispetto ad alternative legacy e start-up, Metis è l'unica focalizzata sul workflow 'Glass Box'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2560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1200">
                <a:solidFill>
                  <a:srgbClr val="002960"/>
                </a:solidFill>
              </a:defRPr>
            </a:pPr>
            <a:r>
              <a:t>PLAYER LEGACY</a:t>
            </a:r>
            <a:br/>
            <a:r>
              <a:t>(CRIF, Experian)</a:t>
            </a:r>
            <a:br/>
            <a:br/>
            <a:r>
              <a:t>• Score numerico: Sì</a:t>
            </a:r>
            <a:br/>
            <a:r>
              <a:t>• Focus normativo: Alto</a:t>
            </a:r>
            <a:br/>
            <a:r>
              <a:t>• Modello Innovativo NLP: Basso</a:t>
            </a:r>
            <a:br/>
            <a:r>
              <a:t>• Generazione testo per PEF: Basso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371600"/>
            <a:ext cx="2560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1200">
                <a:solidFill>
                  <a:srgbClr val="002960"/>
                </a:solidFill>
              </a:defRPr>
            </a:pPr>
            <a:r>
              <a:t>STARTUP AI / DECISION ENGINE</a:t>
            </a:r>
            <a:br/>
            <a:r>
              <a:t>(Actico, Axyon)</a:t>
            </a:r>
            <a:br/>
            <a:br/>
            <a:r>
              <a:t>• Score numerico: Sì</a:t>
            </a:r>
            <a:br/>
            <a:r>
              <a:t>• Focus automazione drastica: Alto</a:t>
            </a:r>
            <a:br/>
            <a:r>
              <a:t>• Modello Spiegabile 'Narrativo': Medio-Basso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0" y="1371600"/>
            <a:ext cx="2560320" cy="3200400"/>
          </a:xfrm>
          <a:prstGeom prst="rect">
            <a:avLst/>
          </a:prstGeom>
          <a:solidFill>
            <a:srgbClr val="C9F0FF"/>
          </a:solidFill>
        </p:spPr>
        <p:txBody>
          <a:bodyPr wrap="square">
            <a:spAutoFit/>
          </a:bodyPr>
          <a:lstStyle/>
          <a:p/>
          <a:p>
            <a:pPr algn="l">
              <a:defRPr sz="1200">
                <a:solidFill>
                  <a:srgbClr val="002960"/>
                </a:solidFill>
              </a:defRPr>
            </a:pPr>
            <a:r>
              <a:t>METIS (XAI)</a:t>
            </a:r>
            <a:br/>
            <a:br/>
            <a:r>
              <a:t>• Score numerico + Testo Narrativo: Sì</a:t>
            </a:r>
            <a:br/>
            <a:r>
              <a:t>• Focus Normativo Alto Rischio (EU Act): Altissimo</a:t>
            </a:r>
            <a:br/>
            <a:r>
              <a:t>• Approccio Human-In-The-Loop: Nativo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defRPr sz="1800" b="1">
                <a:solidFill>
                  <a:srgbClr val="002960"/>
                </a:solidFill>
              </a:defRPr>
            </a:pPr>
            <a:r>
              <a:t>Il Business Model ibrido bilancia costi prevedibili e adozione scalabile Pay-Per-Use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2560320" cy="2743200"/>
          </a:xfrm>
          <a:prstGeom prst="rect">
            <a:avLst/>
          </a:prstGeom>
          <a:solidFill>
            <a:srgbClr val="002960"/>
          </a:solidFill>
        </p:spPr>
        <p:txBody>
          <a:bodyPr wrap="square">
            <a:spAutoFit/>
          </a:bodyPr>
          <a:lstStyle/>
          <a:p/>
          <a:p>
            <a:pPr algn="l">
              <a:defRPr sz="1200">
                <a:solidFill>
                  <a:srgbClr val="FFFFFF"/>
                </a:solidFill>
              </a:defRPr>
            </a:pPr>
            <a:r>
              <a:t>1. BASE PLATFORM FEE</a:t>
            </a:r>
            <a:br/>
            <a:br/>
            <a:r>
              <a:t>Licenza SaaS annuale. Copre oneri di conformità, update modelli genAI e cloud hosting sicuro (Mantenimento flat).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371600"/>
            <a:ext cx="2560320" cy="2743200"/>
          </a:xfrm>
          <a:prstGeom prst="rect">
            <a:avLst/>
          </a:prstGeom>
          <a:solidFill>
            <a:srgbClr val="FFDB00"/>
          </a:solidFill>
        </p:spPr>
        <p:txBody>
          <a:bodyPr wrap="square">
            <a:spAutoFit/>
          </a:bodyPr>
          <a:lstStyle/>
          <a:p/>
          <a:p>
            <a:pPr algn="l">
              <a:defRPr sz="1200">
                <a:solidFill>
                  <a:srgbClr val="002960"/>
                </a:solidFill>
              </a:defRPr>
            </a:pPr>
            <a:r>
              <a:t>2. CONSUMPTION TIER (Pay-Per-PEF)</a:t>
            </a:r>
            <a:br/>
            <a:br/>
            <a:r>
              <a:t>Fee variabile in base al volume delle pratiche. Assicura ROI sempre maggiore: la banca paga solo se Metis abbatte il carico di lavoro.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0" y="1371600"/>
            <a:ext cx="2560320" cy="2743200"/>
          </a:xfrm>
          <a:prstGeom prst="rect">
            <a:avLst/>
          </a:prstGeom>
          <a:solidFill>
            <a:srgbClr val="0065BD"/>
          </a:solidFill>
        </p:spPr>
        <p:txBody>
          <a:bodyPr wrap="square">
            <a:spAutoFit/>
          </a:bodyPr>
          <a:lstStyle/>
          <a:p/>
          <a:p>
            <a:pPr algn="l">
              <a:defRPr sz="1200">
                <a:solidFill>
                  <a:srgbClr val="FFFFFF"/>
                </a:solidFill>
              </a:defRPr>
            </a:pPr>
            <a:r>
              <a:t>3. ENTERPRISE ADD-ON</a:t>
            </a:r>
            <a:br/>
            <a:br/>
            <a:r>
              <a:t>Servizi professionali ad hoc. Addestramento fine-tuned sui dati storici delle PEF interne della singola banca per personalizzazione UX.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defRPr sz="1800" b="1">
                <a:solidFill>
                  <a:srgbClr val="002960"/>
                </a:solidFill>
              </a:defRPr>
            </a:pPr>
            <a:r>
              <a:t>Sintesi strategica: Call to Action per il lancio della Fase Pilota sulla piattaforma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3200400"/>
          </a:xfrm>
          <a:prstGeom prst="rect">
            <a:avLst/>
          </a:prstGeom>
          <a:solidFill>
            <a:srgbClr val="002960"/>
          </a:solidFill>
        </p:spPr>
        <p:txBody>
          <a:bodyPr wrap="square">
            <a:spAutoFit/>
          </a:bodyPr>
          <a:lstStyle/>
          <a:p/>
          <a:p>
            <a:pPr algn="l">
              <a:defRPr sz="1400">
                <a:solidFill>
                  <a:srgbClr val="FFFFFF"/>
                </a:solidFill>
              </a:defRPr>
            </a:pPr>
            <a:r>
              <a:t>I 3 TAKEAWAY DEL PROGETTO:</a:t>
            </a:r>
            <a:br/>
            <a:br/>
            <a:r>
              <a:t>1. Il mercato bancario ha urgenze di efficienza ed è sotto pressione normativa dal 2026.</a:t>
            </a:r>
            <a:br/>
            <a:br/>
            <a:r>
              <a:t>2. Metis risponde nativamente con il framework Explainable AI.</a:t>
            </a:r>
            <a:br/>
            <a:br/>
            <a:r>
              <a:t>3. L'analista viene 'aumentato', minimizzando la resistenza sindacale/culturale interna.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0" y="1371600"/>
            <a:ext cx="3657600" cy="3200400"/>
          </a:xfrm>
          <a:prstGeom prst="rect">
            <a:avLst/>
          </a:prstGeom>
          <a:solidFill>
            <a:srgbClr val="C9F0FF"/>
          </a:solidFill>
        </p:spPr>
        <p:txBody>
          <a:bodyPr wrap="square">
            <a:spAutoFit/>
          </a:bodyPr>
          <a:lstStyle/>
          <a:p/>
          <a:p>
            <a:pPr algn="l">
              <a:defRPr sz="1400">
                <a:solidFill>
                  <a:srgbClr val="002960"/>
                </a:solidFill>
              </a:defRPr>
            </a:pPr>
            <a:r>
              <a:t>PROSSIMI PASSI (TIMELINE PoC)</a:t>
            </a:r>
            <a:br/>
            <a:br/>
            <a:r>
              <a:t>Mese 1: Setup ambiente e ingestion dati di test CR/Bilanci</a:t>
            </a:r>
            <a:br/>
            <a:br/>
            <a:r>
              <a:t>Mese 2: Back-testing cieco su PEF storiche</a:t>
            </a:r>
            <a:br/>
            <a:br/>
            <a:r>
              <a:t>Mese 3: Valutazione KPI e rollout commerciale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